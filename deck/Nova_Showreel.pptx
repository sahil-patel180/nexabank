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FFFFFF"/>
                </a:solidFill>
                <a:latin typeface="Calibri"/>
              </a:rPr>
              <a:t>F1 score by banking domain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F1 %</c:v>
                </c:pt>
              </c:strCache>
            </c:strRef>
          </c:tx>
          <c:spPr>
            <a:solidFill>
              <a:srgbClr val="16939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Out of scope</c:v>
                  </c:pt>
                  <c:pt idx="1">
                    <c:v>Small talk</c:v>
                  </c:pt>
                  <c:pt idx="2">
                    <c:v>Support</c:v>
                  </c:pt>
                  <c:pt idx="3">
                    <c:v>Services</c:v>
                  </c:pt>
                  <c:pt idx="4">
                    <c:v>Loans</c:v>
                  </c:pt>
                  <c:pt idx="5">
                    <c:v>Cards</c:v>
                  </c:pt>
                  <c:pt idx="6">
                    <c:v>Payments</c:v>
                  </c:pt>
                  <c:pt idx="7">
                    <c:v>Accounts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83.3</c:v>
                </c:pt>
                <c:pt idx="1">
                  <c:v>95.9</c:v>
                </c:pt>
                <c:pt idx="2">
                  <c:v>100</c:v>
                </c:pt>
                <c:pt idx="3">
                  <c:v>100</c:v>
                </c:pt>
                <c:pt idx="4">
                  <c:v>93.3</c:v>
                </c:pt>
                <c:pt idx="5">
                  <c:v>77.8</c:v>
                </c:pt>
                <c:pt idx="6">
                  <c:v>100</c:v>
                </c:pt>
                <c:pt idx="7">
                  <c:v>92.6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FE3E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Nova is a banking assistant for a fictional bank, NexaBank. Everything that understands and generates language was built from scratch in this project. Team: Sahil Patel (RA2682242010223), Sanket Aepa (RA2682242010222), Devraj Soni (RA2682242010353).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digital banking still maps the bank's structure onto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idea: let customers type the way they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 first cleans the text: lower-case, expands slang, masks numbers so '40k' and '5000' look alike to the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grows the entity highlights and the confidence bar. The classifier returns transfer_money; the extractor finds the amount and resolves 'mom' to a saved payee.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Architecture. The browser sends a message; the server runs NLU, then the dialogue manager, which calls the mock core banking system, then NLG produces text and a rich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NLU is about 300 lines of dependency-free JavaScript. Training takes about five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evaluation: the test phrases are written separately from the training grammar. Cards is weakest because 'when is my … due' is ambiguous between credit card and EMI.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dialogue manager keeps a frame per task and asks only for what's missing. High-value transfers need an OTP.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NLG: 47 dialogue acts, most with multiple phrasings, and Indian number formatting.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part of the dialogue design,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dashboard: accounts on the left, chat in the middle, and the explainability panel on the right that shows intent scores, entities and the dialogue trace for every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Next.js 15, React 19, Tailwind v4 and Framer Motion. Motion is used to explain, not decorate, and respects reduced-motion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 from building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The NLU interface is stable, so a transformer model can replace the linear model without touching the dialogue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Offer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nexabank-gvyr.onrender.com" TargetMode="External"/><Relationship Id="rId1" Type="http://schemas.openxmlformats.org/officeDocument/2006/relationships/image" Target="../media/Slide-1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7086600" y="1128827"/>
            <a:ext cx="3931920" cy="4600346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7823835" y="1956889"/>
            <a:ext cx="2457450" cy="294422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8462772" y="3106976"/>
            <a:ext cx="1179576" cy="142610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9601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NexaBank · Nova</a:t>
            </a:r>
            <a:endParaRPr lang="en-US" sz="5400" dirty="0"/>
          </a:p>
        </p:txBody>
      </p:sp>
      <p:sp>
        <p:nvSpPr>
          <p:cNvPr id="6" name="obj_0_0"/>
          <p:cNvSpPr txBox="1"/>
          <p:nvPr/>
        </p:nvSpPr>
        <p:spPr>
          <a:xfrm>
            <a:off x="640080" y="21031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banking with an in-house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NLU, dialogue manager and NLG engine</a:t>
            </a:r>
            <a:endParaRPr lang="en-US" sz="2200" dirty="0"/>
          </a:p>
        </p:txBody>
      </p:sp>
      <p:sp>
        <p:nvSpPr>
          <p:cNvPr id="7" name="obj_0_1"/>
          <p:cNvSpPr txBox="1"/>
          <p:nvPr/>
        </p:nvSpPr>
        <p:spPr>
          <a:xfrm>
            <a:off x="6400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 mini project  ·  Banking domain  ·  2026</a:t>
            </a:r>
            <a:endParaRPr lang="en-US" sz="1500" dirty="0"/>
          </a:p>
        </p:txBody>
      </p:sp>
      <p:sp>
        <p:nvSpPr>
          <p:cNvPr id="8" name="obj_0_2"/>
          <p:cNvSpPr txBox="1"/>
          <p:nvPr/>
        </p:nvSpPr>
        <p:spPr>
          <a:xfrm>
            <a:off x="64008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9" name="obj_0_3"/>
          <p:cNvSpPr/>
          <p:nvPr/>
        </p:nvSpPr>
        <p:spPr>
          <a:xfrm>
            <a:off x="640080" y="4480560"/>
            <a:ext cx="5852160" cy="457200"/>
          </a:xfrm>
          <a:prstGeom prst="roundRect">
            <a:avLst>
              <a:gd name="adj" fmla="val 2400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10" name="obj_0_4"/>
          <p:cNvSpPr txBox="1"/>
          <p:nvPr/>
        </p:nvSpPr>
        <p:spPr>
          <a:xfrm>
            <a:off x="86868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Sahil Patel</a:t>
            </a:r>
            <a:endParaRPr lang="en-US" sz="1600" dirty="0"/>
          </a:p>
        </p:txBody>
      </p:sp>
      <p:sp>
        <p:nvSpPr>
          <p:cNvPr id="11" name="obj_0_5"/>
          <p:cNvSpPr txBox="1"/>
          <p:nvPr/>
        </p:nvSpPr>
        <p:spPr>
          <a:xfrm>
            <a:off x="402336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FC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RA2682242010223</a:t>
            </a:r>
            <a:endParaRPr lang="en-US" sz="1400" dirty="0"/>
          </a:p>
        </p:txBody>
      </p:sp>
      <p:sp>
        <p:nvSpPr>
          <p:cNvPr id="12" name="obj_0_6"/>
          <p:cNvSpPr/>
          <p:nvPr/>
        </p:nvSpPr>
        <p:spPr>
          <a:xfrm>
            <a:off x="640080" y="5047488"/>
            <a:ext cx="5852160" cy="457200"/>
          </a:xfrm>
          <a:prstGeom prst="roundRect">
            <a:avLst>
              <a:gd name="adj" fmla="val 2400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13" name="obj_0_7"/>
          <p:cNvSpPr txBox="1"/>
          <p:nvPr/>
        </p:nvSpPr>
        <p:spPr>
          <a:xfrm>
            <a:off x="868680" y="5047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Sanket Aepa</a:t>
            </a:r>
            <a:endParaRPr lang="en-US" sz="1600" dirty="0"/>
          </a:p>
        </p:txBody>
      </p:sp>
      <p:sp>
        <p:nvSpPr>
          <p:cNvPr id="14" name="obj_0_8"/>
          <p:cNvSpPr txBox="1"/>
          <p:nvPr/>
        </p:nvSpPr>
        <p:spPr>
          <a:xfrm>
            <a:off x="4023360" y="5047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FC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RA2682242010222</a:t>
            </a:r>
            <a:endParaRPr lang="en-US" sz="1400" dirty="0"/>
          </a:p>
        </p:txBody>
      </p:sp>
      <p:sp>
        <p:nvSpPr>
          <p:cNvPr id="15" name="obj_0_9"/>
          <p:cNvSpPr/>
          <p:nvPr/>
        </p:nvSpPr>
        <p:spPr>
          <a:xfrm>
            <a:off x="640080" y="5614416"/>
            <a:ext cx="5852160" cy="457200"/>
          </a:xfrm>
          <a:prstGeom prst="roundRect">
            <a:avLst>
              <a:gd name="adj" fmla="val 2400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16" name="obj_0_10"/>
          <p:cNvSpPr txBox="1"/>
          <p:nvPr/>
        </p:nvSpPr>
        <p:spPr>
          <a:xfrm>
            <a:off x="868680" y="5614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Devraj Soni</a:t>
            </a:r>
            <a:endParaRPr lang="en-US" sz="1600" dirty="0"/>
          </a:p>
        </p:txBody>
      </p:sp>
      <p:sp>
        <p:nvSpPr>
          <p:cNvPr id="17" name="obj_0_11"/>
          <p:cNvSpPr txBox="1"/>
          <p:nvPr/>
        </p:nvSpPr>
        <p:spPr>
          <a:xfrm>
            <a:off x="4023360" y="5614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FC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RA2682242010353</a:t>
            </a:r>
            <a:endParaRPr lang="en-US" sz="1400" dirty="0"/>
          </a:p>
        </p:txBody>
      </p:sp>
    </p:spTree>
  </p:cSld>
  <p:clrMapOvr>
    <a:masterClrMapping/>
  </p:clrMapOvr>
  <p:transition spd="slow" advTm="6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10904220" y="413995"/>
            <a:ext cx="777240" cy="909371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1049953" y="577681"/>
            <a:ext cx="485775" cy="581997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1176254" y="805024"/>
            <a:ext cx="233172" cy="281905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apps make you hunt</a:t>
            </a:r>
            <a:endParaRPr lang="en-US" sz="3400" dirty="0"/>
          </a:p>
        </p:txBody>
      </p:sp>
      <p:sp>
        <p:nvSpPr>
          <p:cNvPr id="6" name="obj_1_0"/>
          <p:cNvSpPr txBox="1"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tasks hide behind menus, jargon and call-centre queues.</a:t>
            </a:r>
            <a:endParaRPr lang="en-US" sz="1600" dirty="0"/>
          </a:p>
        </p:txBody>
      </p:sp>
      <p:sp>
        <p:nvSpPr>
          <p:cNvPr id="7" name="obj_1_1"/>
          <p:cNvSpPr/>
          <p:nvPr/>
        </p:nvSpPr>
        <p:spPr>
          <a:xfrm>
            <a:off x="640080" y="224028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8" name="obj_1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60320"/>
            <a:ext cx="502920" cy="502920"/>
          </a:xfrm>
          <a:prstGeom prst="rect">
            <a:avLst/>
          </a:prstGeom>
        </p:spPr>
      </p:pic>
      <p:sp>
        <p:nvSpPr>
          <p:cNvPr id="9" name="obj_1_3"/>
          <p:cNvSpPr txBox="1"/>
          <p:nvPr/>
        </p:nvSpPr>
        <p:spPr>
          <a:xfrm>
            <a:off x="960120" y="3291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 four taps deep</a:t>
            </a:r>
            <a:endParaRPr lang="en-US" sz="2100" dirty="0"/>
          </a:p>
        </p:txBody>
      </p:sp>
      <p:sp>
        <p:nvSpPr>
          <p:cNvPr id="10" name="obj_1_4"/>
          <p:cNvSpPr txBox="1"/>
          <p:nvPr/>
        </p:nvSpPr>
        <p:spPr>
          <a:xfrm>
            <a:off x="960120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one EMI date means navigating Loans → Accounts → Schedule → Details.</a:t>
            </a:r>
            <a:endParaRPr lang="en-US" sz="1500" dirty="0"/>
          </a:p>
        </p:txBody>
      </p:sp>
      <p:sp>
        <p:nvSpPr>
          <p:cNvPr id="11" name="obj_1_5"/>
          <p:cNvSpPr/>
          <p:nvPr/>
        </p:nvSpPr>
        <p:spPr>
          <a:xfrm>
            <a:off x="4389120" y="224028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12" name="obj_1_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60320"/>
            <a:ext cx="502920" cy="502920"/>
          </a:xfrm>
          <a:prstGeom prst="rect">
            <a:avLst/>
          </a:prstGeom>
        </p:spPr>
      </p:pic>
      <p:sp>
        <p:nvSpPr>
          <p:cNvPr id="13" name="obj_1_7"/>
          <p:cNvSpPr txBox="1"/>
          <p:nvPr/>
        </p:nvSpPr>
        <p:spPr>
          <a:xfrm>
            <a:off x="4709160" y="3291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bank's vocabulary</a:t>
            </a:r>
            <a:endParaRPr lang="en-US" sz="2100" dirty="0"/>
          </a:p>
        </p:txBody>
      </p:sp>
      <p:sp>
        <p:nvSpPr>
          <p:cNvPr id="14" name="obj_1_8"/>
          <p:cNvSpPr txBox="1"/>
          <p:nvPr/>
        </p:nvSpPr>
        <p:spPr>
          <a:xfrm>
            <a:off x="4709160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IMPS, NEFT, IFSC, FOIR — customers have to learn the bank's words to get anything done.</a:t>
            </a:r>
            <a:endParaRPr lang="en-US" sz="1500" dirty="0"/>
          </a:p>
        </p:txBody>
      </p:sp>
      <p:sp>
        <p:nvSpPr>
          <p:cNvPr id="15" name="obj_1_9"/>
          <p:cNvSpPr/>
          <p:nvPr/>
        </p:nvSpPr>
        <p:spPr>
          <a:xfrm>
            <a:off x="8138160" y="224028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16" name="obj_1_1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560320"/>
            <a:ext cx="502920" cy="502920"/>
          </a:xfrm>
          <a:prstGeom prst="rect">
            <a:avLst/>
          </a:prstGeom>
        </p:spPr>
      </p:pic>
      <p:sp>
        <p:nvSpPr>
          <p:cNvPr id="17" name="obj_1_11"/>
          <p:cNvSpPr txBox="1"/>
          <p:nvPr/>
        </p:nvSpPr>
        <p:spPr>
          <a:xfrm>
            <a:off x="8458200" y="3291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 for easy questions</a:t>
            </a:r>
            <a:endParaRPr lang="en-US" sz="2100" dirty="0"/>
          </a:p>
        </p:txBody>
      </p:sp>
      <p:sp>
        <p:nvSpPr>
          <p:cNvPr id="18" name="obj_1_12"/>
          <p:cNvSpPr txBox="1"/>
          <p:nvPr/>
        </p:nvSpPr>
        <p:spPr>
          <a:xfrm>
            <a:off x="8458200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is my EMI due?” shouldn't need a phone call and a wait.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 advTm="7000">
        <p159:morph option="byObject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1143000" y="4104284"/>
            <a:ext cx="1737360" cy="2032711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468755" y="4470172"/>
            <a:ext cx="1085850" cy="1300935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751076" y="4978350"/>
            <a:ext cx="521208" cy="6301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8229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ask.</a:t>
            </a:r>
            <a:endParaRPr lang="en-US" sz="8000" dirty="0"/>
          </a:p>
        </p:txBody>
      </p:sp>
      <p:sp>
        <p:nvSpPr>
          <p:cNvPr id="6" name="obj_2_0"/>
          <p:cNvSpPr txBox="1"/>
          <p:nvPr/>
        </p:nvSpPr>
        <p:spPr>
          <a:xfrm>
            <a:off x="640080" y="2377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understands everyday phrasing — amounts in lakh, nicknames like “mom”, dates like “last month” — and does the task with the same checks a teller would.</a:t>
            </a:r>
            <a:endParaRPr lang="en-US" sz="1800" dirty="0"/>
          </a:p>
        </p:txBody>
      </p:sp>
      <p:sp>
        <p:nvSpPr>
          <p:cNvPr id="7" name="obj_2_1"/>
          <p:cNvSpPr txBox="1"/>
          <p:nvPr/>
        </p:nvSpPr>
        <p:spPr>
          <a:xfrm>
            <a:off x="6949440" y="1097280"/>
            <a:ext cx="3017520" cy="658368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2k to Rohan</a:t>
            </a:r>
            <a:endParaRPr lang="en-US" sz="1700" dirty="0"/>
          </a:p>
        </p:txBody>
      </p:sp>
      <p:sp>
        <p:nvSpPr>
          <p:cNvPr id="8" name="obj_2_2"/>
          <p:cNvSpPr txBox="1"/>
          <p:nvPr/>
        </p:nvSpPr>
        <p:spPr>
          <a:xfrm>
            <a:off x="6309360" y="2148840"/>
            <a:ext cx="5212080" cy="658368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I spend on Swiggy last month?</a:t>
            </a:r>
            <a:endParaRPr lang="en-US" sz="1700" dirty="0"/>
          </a:p>
        </p:txBody>
      </p:sp>
      <p:sp>
        <p:nvSpPr>
          <p:cNvPr id="9" name="obj_2_3"/>
          <p:cNvSpPr txBox="1"/>
          <p:nvPr/>
        </p:nvSpPr>
        <p:spPr>
          <a:xfrm>
            <a:off x="7223760" y="3200400"/>
            <a:ext cx="4023360" cy="658368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for 20 lakh over 15 years</a:t>
            </a:r>
            <a:endParaRPr lang="en-US" sz="1700" dirty="0"/>
          </a:p>
        </p:txBody>
      </p:sp>
      <p:sp>
        <p:nvSpPr>
          <p:cNvPr id="10" name="obj_2_4"/>
          <p:cNvSpPr txBox="1"/>
          <p:nvPr/>
        </p:nvSpPr>
        <p:spPr>
          <a:xfrm>
            <a:off x="6583680" y="4251960"/>
            <a:ext cx="3108960" cy="658368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lost my debit card</a:t>
            </a:r>
            <a:endParaRPr lang="en-US" sz="1700" dirty="0"/>
          </a:p>
        </p:txBody>
      </p:sp>
      <p:sp>
        <p:nvSpPr>
          <p:cNvPr id="11" name="obj_2_5"/>
          <p:cNvSpPr txBox="1"/>
          <p:nvPr/>
        </p:nvSpPr>
        <p:spPr>
          <a:xfrm>
            <a:off x="7863840" y="5303520"/>
            <a:ext cx="2468880" cy="658368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in Chennai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 advTm="7000">
        <p159:morph option="byObject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9235440" y="2389327"/>
            <a:ext cx="2011680" cy="2353666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9612630" y="2812987"/>
            <a:ext cx="1257300" cy="1506346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9939528" y="3401403"/>
            <a:ext cx="603504" cy="72963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one sentence</a:t>
            </a:r>
            <a:endParaRPr lang="en-US" sz="3400" dirty="0"/>
          </a:p>
        </p:txBody>
      </p:sp>
      <p:sp>
        <p:nvSpPr>
          <p:cNvPr id="6" name="obj_3_0"/>
          <p:cNvSpPr txBox="1"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normalise and tokenise</a:t>
            </a:r>
            <a:endParaRPr lang="en-US" sz="1600" dirty="0"/>
          </a:p>
        </p:txBody>
      </p:sp>
      <p:sp>
        <p:nvSpPr>
          <p:cNvPr id="7" name="!!sentBox"/>
          <p:cNvSpPr/>
          <p:nvPr/>
        </p:nvSpPr>
        <p:spPr>
          <a:xfrm>
            <a:off x="822960" y="2011680"/>
            <a:ext cx="6583680" cy="1234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!!w0"/>
          <p:cNvSpPr txBox="1"/>
          <p:nvPr/>
        </p:nvSpPr>
        <p:spPr>
          <a:xfrm>
            <a:off x="1143000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4000" dirty="0"/>
          </a:p>
        </p:txBody>
      </p:sp>
      <p:sp>
        <p:nvSpPr>
          <p:cNvPr id="9" name="!!hlAmt"/>
          <p:cNvSpPr/>
          <p:nvPr/>
        </p:nvSpPr>
        <p:spPr>
          <a:xfrm>
            <a:off x="3602736" y="2240280"/>
            <a:ext cx="45720" cy="777240"/>
          </a:xfrm>
          <a:prstGeom prst="roundRect">
            <a:avLst>
              <a:gd name="adj" fmla="val 200000"/>
            </a:avLst>
          </a:prstGeom>
          <a:solidFill>
            <a:srgbClr val="FDF0D6">
              <a:alpha val="0"/>
            </a:srgbClr>
          </a:solidFill>
          <a:ln w="6350">
            <a:solidFill>
              <a:srgbClr val="F2A93B">
                <a:alpha val="0"/>
              </a:srgbClr>
            </a:solidFill>
            <a:prstDash val="solid"/>
          </a:ln>
        </p:spPr>
      </p:sp>
      <p:sp>
        <p:nvSpPr>
          <p:cNvPr id="10" name="!!w1"/>
          <p:cNvSpPr txBox="1"/>
          <p:nvPr/>
        </p:nvSpPr>
        <p:spPr>
          <a:xfrm>
            <a:off x="3675888" y="22860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</a:t>
            </a:r>
            <a:endParaRPr lang="en-US" sz="4000" dirty="0"/>
          </a:p>
        </p:txBody>
      </p:sp>
      <p:sp>
        <p:nvSpPr>
          <p:cNvPr id="11" name="!!w2"/>
          <p:cNvSpPr txBox="1"/>
          <p:nvPr/>
        </p:nvSpPr>
        <p:spPr>
          <a:xfrm>
            <a:off x="4928616" y="2286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4000" dirty="0"/>
          </a:p>
        </p:txBody>
      </p:sp>
      <p:sp>
        <p:nvSpPr>
          <p:cNvPr id="12" name="!!hlPay"/>
          <p:cNvSpPr/>
          <p:nvPr/>
        </p:nvSpPr>
        <p:spPr>
          <a:xfrm>
            <a:off x="5696712" y="2240280"/>
            <a:ext cx="45720" cy="777240"/>
          </a:xfrm>
          <a:prstGeom prst="roundRect">
            <a:avLst>
              <a:gd name="adj" fmla="val 200000"/>
            </a:avLst>
          </a:prstGeom>
          <a:solidFill>
            <a:srgbClr val="D7F0EE">
              <a:alpha val="0"/>
            </a:srgbClr>
          </a:solidFill>
          <a:ln w="6350">
            <a:solidFill>
              <a:srgbClr val="16939A">
                <a:alpha val="0"/>
              </a:srgbClr>
            </a:solidFill>
            <a:prstDash val="solid"/>
          </a:ln>
        </p:spPr>
      </p:sp>
      <p:sp>
        <p:nvSpPr>
          <p:cNvPr id="13" name="!!w3"/>
          <p:cNvSpPr txBox="1"/>
          <p:nvPr/>
        </p:nvSpPr>
        <p:spPr>
          <a:xfrm>
            <a:off x="5769864" y="22860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</a:t>
            </a:r>
            <a:endParaRPr lang="en-US" sz="4000" dirty="0"/>
          </a:p>
        </p:txBody>
      </p:sp>
      <p:sp>
        <p:nvSpPr>
          <p:cNvPr id="14" name="!!norm"/>
          <p:cNvSpPr txBox="1"/>
          <p:nvPr/>
        </p:nvSpPr>
        <p:spPr>
          <a:xfrm>
            <a:off x="86868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FC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normalised →  transfer  &lt;num&gt;  to  mom</a:t>
            </a:r>
            <a:endParaRPr lang="en-US" sz="1800" dirty="0"/>
          </a:p>
        </p:txBody>
      </p:sp>
      <p:sp>
        <p:nvSpPr>
          <p:cNvPr id="15" name="!!bar"/>
          <p:cNvSpPr/>
          <p:nvPr/>
        </p:nvSpPr>
        <p:spPr>
          <a:xfrm>
            <a:off x="868680" y="5257800"/>
            <a:ext cx="45720" cy="201168"/>
          </a:xfrm>
          <a:prstGeom prst="roundRect">
            <a:avLst>
              <a:gd name="adj" fmla="val 200000"/>
            </a:avLst>
          </a:prstGeom>
          <a:solidFill>
            <a:srgbClr val="F2A93B">
              <a:alpha val="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200" advTm="3800">
        <p159:morph option="byObject"/>
      </p:transition>
    </mc:Choice>
    <mc:Fallback>
      <p:transition spd="slow" advTm="3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9235440" y="2389327"/>
            <a:ext cx="2011680" cy="2353666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9612630" y="2812987"/>
            <a:ext cx="1257300" cy="1506346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9939528" y="3401403"/>
            <a:ext cx="603504" cy="72963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one sentence</a:t>
            </a:r>
            <a:endParaRPr lang="en-US" sz="3400" dirty="0"/>
          </a:p>
        </p:txBody>
      </p:sp>
      <p:sp>
        <p:nvSpPr>
          <p:cNvPr id="6" name="obj_4_0"/>
          <p:cNvSpPr txBox="1"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classify intent and extract entities</a:t>
            </a:r>
            <a:endParaRPr lang="en-US" sz="1600" dirty="0"/>
          </a:p>
        </p:txBody>
      </p:sp>
      <p:sp>
        <p:nvSpPr>
          <p:cNvPr id="7" name="!!sentBox"/>
          <p:cNvSpPr/>
          <p:nvPr/>
        </p:nvSpPr>
        <p:spPr>
          <a:xfrm>
            <a:off x="822960" y="2011680"/>
            <a:ext cx="6583680" cy="1234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!!w0"/>
          <p:cNvSpPr txBox="1"/>
          <p:nvPr/>
        </p:nvSpPr>
        <p:spPr>
          <a:xfrm>
            <a:off x="1143000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4000" dirty="0"/>
          </a:p>
        </p:txBody>
      </p:sp>
      <p:sp>
        <p:nvSpPr>
          <p:cNvPr id="9" name="!!hlAmt"/>
          <p:cNvSpPr/>
          <p:nvPr/>
        </p:nvSpPr>
        <p:spPr>
          <a:xfrm>
            <a:off x="3602736" y="2240280"/>
            <a:ext cx="1197864" cy="777240"/>
          </a:xfrm>
          <a:prstGeom prst="roundRect">
            <a:avLst>
              <a:gd name="adj" fmla="val 11765"/>
            </a:avLst>
          </a:prstGeom>
          <a:solidFill>
            <a:srgbClr val="FDF0D6"/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10" name="!!w1"/>
          <p:cNvSpPr txBox="1"/>
          <p:nvPr/>
        </p:nvSpPr>
        <p:spPr>
          <a:xfrm>
            <a:off x="3675888" y="22860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</a:t>
            </a:r>
            <a:endParaRPr lang="en-US" sz="4000" dirty="0"/>
          </a:p>
        </p:txBody>
      </p:sp>
      <p:sp>
        <p:nvSpPr>
          <p:cNvPr id="11" name="!!w2"/>
          <p:cNvSpPr txBox="1"/>
          <p:nvPr/>
        </p:nvSpPr>
        <p:spPr>
          <a:xfrm>
            <a:off x="4928616" y="2286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4000" dirty="0"/>
          </a:p>
        </p:txBody>
      </p:sp>
      <p:sp>
        <p:nvSpPr>
          <p:cNvPr id="12" name="!!hlPay"/>
          <p:cNvSpPr/>
          <p:nvPr/>
        </p:nvSpPr>
        <p:spPr>
          <a:xfrm>
            <a:off x="5696712" y="2240280"/>
            <a:ext cx="1380744" cy="777240"/>
          </a:xfrm>
          <a:prstGeom prst="roundRect">
            <a:avLst>
              <a:gd name="adj" fmla="val 11765"/>
            </a:avLst>
          </a:prstGeom>
          <a:solidFill>
            <a:srgbClr val="D7F0EE"/>
          </a:solidFill>
          <a:ln w="25400">
            <a:solidFill>
              <a:srgbClr val="16939A"/>
            </a:solidFill>
            <a:prstDash val="solid"/>
          </a:ln>
        </p:spPr>
      </p:sp>
      <p:sp>
        <p:nvSpPr>
          <p:cNvPr id="13" name="!!w3"/>
          <p:cNvSpPr txBox="1"/>
          <p:nvPr/>
        </p:nvSpPr>
        <p:spPr>
          <a:xfrm>
            <a:off x="5769864" y="22860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</a:t>
            </a:r>
            <a:endParaRPr lang="en-US" sz="4000" dirty="0"/>
          </a:p>
        </p:txBody>
      </p:sp>
      <p:sp>
        <p:nvSpPr>
          <p:cNvPr id="14" name="!!norm"/>
          <p:cNvSpPr txBox="1"/>
          <p:nvPr/>
        </p:nvSpPr>
        <p:spPr>
          <a:xfrm>
            <a:off x="86868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AE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normalised →  transfer  &lt;num&gt;  to  mom</a:t>
            </a:r>
            <a:endParaRPr lang="en-US" sz="1800" dirty="0"/>
          </a:p>
        </p:txBody>
      </p:sp>
      <p:sp>
        <p:nvSpPr>
          <p:cNvPr id="15" name="obj_4_1"/>
          <p:cNvSpPr txBox="1"/>
          <p:nvPr/>
        </p:nvSpPr>
        <p:spPr>
          <a:xfrm>
            <a:off x="3063240" y="4069080"/>
            <a:ext cx="210312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= ₹40,000</a:t>
            </a:r>
            <a:endParaRPr lang="en-US" sz="1300" dirty="0"/>
          </a:p>
        </p:txBody>
      </p:sp>
      <p:sp>
        <p:nvSpPr>
          <p:cNvPr id="16" name="obj_4_2"/>
          <p:cNvSpPr txBox="1"/>
          <p:nvPr/>
        </p:nvSpPr>
        <p:spPr>
          <a:xfrm>
            <a:off x="5303520" y="406908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payee = Sunita Sharma  (alias “mom”)</a:t>
            </a:r>
            <a:endParaRPr lang="en-US" sz="1300" dirty="0"/>
          </a:p>
        </p:txBody>
      </p:sp>
      <p:sp>
        <p:nvSpPr>
          <p:cNvPr id="17" name="obj_4_3"/>
          <p:cNvSpPr txBox="1"/>
          <p:nvPr/>
        </p:nvSpPr>
        <p:spPr>
          <a:xfrm>
            <a:off x="868680" y="4846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400" dirty="0"/>
          </a:p>
        </p:txBody>
      </p:sp>
      <p:sp>
        <p:nvSpPr>
          <p:cNvPr id="18" name="obj_4_4"/>
          <p:cNvSpPr txBox="1"/>
          <p:nvPr/>
        </p:nvSpPr>
        <p:spPr>
          <a:xfrm>
            <a:off x="182880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transfer_money</a:t>
            </a:r>
            <a:endParaRPr lang="en-US" sz="1800" dirty="0"/>
          </a:p>
        </p:txBody>
      </p:sp>
      <p:sp>
        <p:nvSpPr>
          <p:cNvPr id="19" name="obj_4_5"/>
          <p:cNvSpPr/>
          <p:nvPr/>
        </p:nvSpPr>
        <p:spPr>
          <a:xfrm>
            <a:off x="868680" y="5257800"/>
            <a:ext cx="6492240" cy="201168"/>
          </a:xfrm>
          <a:prstGeom prst="roundRect">
            <a:avLst>
              <a:gd name="adj" fmla="val 45455"/>
            </a:avLst>
          </a:prstGeom>
          <a:solidFill>
            <a:srgbClr val="0C4555"/>
          </a:solidFill>
          <a:ln/>
        </p:spPr>
      </p:sp>
      <p:sp>
        <p:nvSpPr>
          <p:cNvPr id="20" name="!!bar"/>
          <p:cNvSpPr/>
          <p:nvPr/>
        </p:nvSpPr>
        <p:spPr>
          <a:xfrm>
            <a:off x="868680" y="5257800"/>
            <a:ext cx="6483096" cy="201168"/>
          </a:xfrm>
          <a:prstGeom prst="roundRect">
            <a:avLst>
              <a:gd name="adj" fmla="val 45455"/>
            </a:avLst>
          </a:prstGeom>
          <a:solidFill>
            <a:srgbClr val="F2A93B"/>
          </a:solidFill>
          <a:ln/>
        </p:spPr>
      </p:sp>
      <p:sp>
        <p:nvSpPr>
          <p:cNvPr id="21" name="obj_4_6"/>
          <p:cNvSpPr txBox="1"/>
          <p:nvPr/>
        </p:nvSpPr>
        <p:spPr>
          <a:xfrm>
            <a:off x="868680" y="5623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confidence · 0.3 ms · runs on the server, no external API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 advTm="7000">
        <p159:morph option="byObject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21" grpId="0" animBg="1"/>
    </p:bldLst>
  </p:timing>
</p:sld>
</file>

<file path=ppt/slides/slide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11109960" y="5805526"/>
            <a:ext cx="548640" cy="641909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1212830" y="5921069"/>
            <a:ext cx="342900" cy="41082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1301984" y="6081546"/>
            <a:ext cx="164592" cy="1989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modules, one turn</a:t>
            </a:r>
            <a:endParaRPr lang="en-US" sz="3400" dirty="0"/>
          </a:p>
        </p:txBody>
      </p:sp>
      <p:sp>
        <p:nvSpPr>
          <p:cNvPr id="6" name="obj_5_0"/>
          <p:cNvSpPr txBox="1"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its own file you can read, test and replace.</a:t>
            </a:r>
            <a:endParaRPr lang="en-US" sz="1600" dirty="0"/>
          </a:p>
        </p:txBody>
      </p:sp>
      <p:sp>
        <p:nvSpPr>
          <p:cNvPr id="7" name="!!ui"/>
          <p:cNvSpPr/>
          <p:nvPr/>
        </p:nvSpPr>
        <p:spPr>
          <a:xfrm>
            <a:off x="640080" y="2331720"/>
            <a:ext cx="1874520" cy="1920240"/>
          </a:xfrm>
          <a:prstGeom prst="roundRect">
            <a:avLst>
              <a:gd name="adj" fmla="val 878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8" name="obj_5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457200" cy="457200"/>
          </a:xfrm>
          <a:prstGeom prst="rect">
            <a:avLst/>
          </a:prstGeom>
        </p:spPr>
      </p:pic>
      <p:sp>
        <p:nvSpPr>
          <p:cNvPr id="9" name="obj_5_2"/>
          <p:cNvSpPr txBox="1"/>
          <p:nvPr/>
        </p:nvSpPr>
        <p:spPr>
          <a:xfrm>
            <a:off x="91440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</a:t>
            </a:r>
            <a:endParaRPr lang="en-US" sz="1700" dirty="0"/>
          </a:p>
        </p:txBody>
      </p:sp>
      <p:sp>
        <p:nvSpPr>
          <p:cNvPr id="10" name="obj_5_3"/>
          <p:cNvSpPr txBox="1"/>
          <p:nvPr/>
        </p:nvSpPr>
        <p:spPr>
          <a:xfrm>
            <a:off x="914400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voice in/out</a:t>
            </a:r>
            <a:endParaRPr lang="en-US" sz="1200" dirty="0"/>
          </a:p>
        </p:txBody>
      </p:sp>
      <p:sp>
        <p:nvSpPr>
          <p:cNvPr id="11" name="obj_5_4"/>
          <p:cNvSpPr/>
          <p:nvPr/>
        </p:nvSpPr>
        <p:spPr>
          <a:xfrm>
            <a:off x="2560320" y="3291840"/>
            <a:ext cx="292608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12" name="!!nlu"/>
          <p:cNvSpPr/>
          <p:nvPr/>
        </p:nvSpPr>
        <p:spPr>
          <a:xfrm>
            <a:off x="2898648" y="2331720"/>
            <a:ext cx="1874520" cy="1920240"/>
          </a:xfrm>
          <a:prstGeom prst="roundRect">
            <a:avLst>
              <a:gd name="adj" fmla="val 8780"/>
            </a:avLst>
          </a:prstGeom>
          <a:solidFill>
            <a:srgbClr val="0C4555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13" name="obj_5_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2606040"/>
            <a:ext cx="457200" cy="457200"/>
          </a:xfrm>
          <a:prstGeom prst="rect">
            <a:avLst/>
          </a:prstGeom>
        </p:spPr>
      </p:pic>
      <p:sp>
        <p:nvSpPr>
          <p:cNvPr id="14" name="obj_5_6"/>
          <p:cNvSpPr txBox="1"/>
          <p:nvPr/>
        </p:nvSpPr>
        <p:spPr>
          <a:xfrm>
            <a:off x="3172968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</a:t>
            </a:r>
            <a:endParaRPr lang="en-US" sz="1700" dirty="0"/>
          </a:p>
        </p:txBody>
      </p:sp>
      <p:sp>
        <p:nvSpPr>
          <p:cNvPr id="15" name="obj_5_7"/>
          <p:cNvSpPr txBox="1"/>
          <p:nvPr/>
        </p:nvSpPr>
        <p:spPr>
          <a:xfrm>
            <a:off x="3172968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entities</a:t>
            </a:r>
            <a:endParaRPr lang="en-US" sz="1200" dirty="0"/>
          </a:p>
        </p:txBody>
      </p:sp>
      <p:sp>
        <p:nvSpPr>
          <p:cNvPr id="16" name="obj_5_8"/>
          <p:cNvSpPr/>
          <p:nvPr/>
        </p:nvSpPr>
        <p:spPr>
          <a:xfrm>
            <a:off x="4818888" y="3291840"/>
            <a:ext cx="292608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17" name="!!dm"/>
          <p:cNvSpPr/>
          <p:nvPr/>
        </p:nvSpPr>
        <p:spPr>
          <a:xfrm>
            <a:off x="5157216" y="2331720"/>
            <a:ext cx="1874520" cy="1920240"/>
          </a:xfrm>
          <a:prstGeom prst="roundRect">
            <a:avLst>
              <a:gd name="adj" fmla="val 878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18" name="obj_5_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2606040"/>
            <a:ext cx="457200" cy="457200"/>
          </a:xfrm>
          <a:prstGeom prst="rect">
            <a:avLst/>
          </a:prstGeom>
        </p:spPr>
      </p:pic>
      <p:sp>
        <p:nvSpPr>
          <p:cNvPr id="19" name="obj_5_10"/>
          <p:cNvSpPr txBox="1"/>
          <p:nvPr/>
        </p:nvSpPr>
        <p:spPr>
          <a:xfrm>
            <a:off x="5431536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manager</a:t>
            </a:r>
            <a:endParaRPr lang="en-US" sz="1700" dirty="0"/>
          </a:p>
        </p:txBody>
      </p:sp>
      <p:sp>
        <p:nvSpPr>
          <p:cNvPr id="20" name="obj_5_11"/>
          <p:cNvSpPr txBox="1"/>
          <p:nvPr/>
        </p:nvSpPr>
        <p:spPr>
          <a:xfrm>
            <a:off x="5431536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· slots · rules</a:t>
            </a:r>
            <a:endParaRPr lang="en-US" sz="1200" dirty="0"/>
          </a:p>
        </p:txBody>
      </p:sp>
      <p:sp>
        <p:nvSpPr>
          <p:cNvPr id="21" name="obj_5_12"/>
          <p:cNvSpPr/>
          <p:nvPr/>
        </p:nvSpPr>
        <p:spPr>
          <a:xfrm>
            <a:off x="7077456" y="3291840"/>
            <a:ext cx="292608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22" name="!!cbs"/>
          <p:cNvSpPr/>
          <p:nvPr/>
        </p:nvSpPr>
        <p:spPr>
          <a:xfrm>
            <a:off x="7415784" y="2331720"/>
            <a:ext cx="1874520" cy="1920240"/>
          </a:xfrm>
          <a:prstGeom prst="roundRect">
            <a:avLst>
              <a:gd name="adj" fmla="val 878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23" name="obj_5_1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104" y="2606040"/>
            <a:ext cx="457200" cy="457200"/>
          </a:xfrm>
          <a:prstGeom prst="rect">
            <a:avLst/>
          </a:prstGeom>
        </p:spPr>
      </p:pic>
      <p:sp>
        <p:nvSpPr>
          <p:cNvPr id="24" name="obj_5_14"/>
          <p:cNvSpPr txBox="1"/>
          <p:nvPr/>
        </p:nvSpPr>
        <p:spPr>
          <a:xfrm>
            <a:off x="7690104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</a:t>
            </a:r>
            <a:endParaRPr lang="en-US" sz="1700" dirty="0"/>
          </a:p>
        </p:txBody>
      </p:sp>
      <p:sp>
        <p:nvSpPr>
          <p:cNvPr id="25" name="obj_5_15"/>
          <p:cNvSpPr txBox="1"/>
          <p:nvPr/>
        </p:nvSpPr>
        <p:spPr>
          <a:xfrm>
            <a:off x="7690104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ledger + APIs</a:t>
            </a:r>
            <a:endParaRPr lang="en-US" sz="1200" dirty="0"/>
          </a:p>
        </p:txBody>
      </p:sp>
      <p:sp>
        <p:nvSpPr>
          <p:cNvPr id="26" name="obj_5_16"/>
          <p:cNvSpPr/>
          <p:nvPr/>
        </p:nvSpPr>
        <p:spPr>
          <a:xfrm>
            <a:off x="9336024" y="3291840"/>
            <a:ext cx="292608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27" name="!!nlg"/>
          <p:cNvSpPr/>
          <p:nvPr/>
        </p:nvSpPr>
        <p:spPr>
          <a:xfrm>
            <a:off x="9674352" y="2331720"/>
            <a:ext cx="1874520" cy="1920240"/>
          </a:xfrm>
          <a:prstGeom prst="roundRect">
            <a:avLst>
              <a:gd name="adj" fmla="val 8780"/>
            </a:avLst>
          </a:prstGeom>
          <a:solidFill>
            <a:srgbClr val="0C4555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28" name="obj_5_1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2" y="2606040"/>
            <a:ext cx="457200" cy="457200"/>
          </a:xfrm>
          <a:prstGeom prst="rect">
            <a:avLst/>
          </a:prstGeom>
        </p:spPr>
      </p:pic>
      <p:sp>
        <p:nvSpPr>
          <p:cNvPr id="29" name="obj_5_18"/>
          <p:cNvSpPr txBox="1"/>
          <p:nvPr/>
        </p:nvSpPr>
        <p:spPr>
          <a:xfrm>
            <a:off x="9948672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NLG</a:t>
            </a:r>
            <a:endParaRPr lang="en-US" sz="1700" dirty="0"/>
          </a:p>
        </p:txBody>
      </p:sp>
      <p:sp>
        <p:nvSpPr>
          <p:cNvPr id="30" name="obj_5_19"/>
          <p:cNvSpPr txBox="1"/>
          <p:nvPr/>
        </p:nvSpPr>
        <p:spPr>
          <a:xfrm>
            <a:off x="9948672" y="3858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→ text + cards</a:t>
            </a:r>
            <a:endParaRPr lang="en-US" sz="1200" dirty="0"/>
          </a:p>
        </p:txBody>
      </p:sp>
      <p:sp>
        <p:nvSpPr>
          <p:cNvPr id="31" name="obj_5_20"/>
          <p:cNvSpPr/>
          <p:nvPr/>
        </p:nvSpPr>
        <p:spPr>
          <a:xfrm>
            <a:off x="10424160" y="4343400"/>
            <a:ext cx="0" cy="50292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</a:ln>
        </p:spPr>
      </p:sp>
      <p:sp>
        <p:nvSpPr>
          <p:cNvPr id="32" name="obj_5_21"/>
          <p:cNvSpPr/>
          <p:nvPr/>
        </p:nvSpPr>
        <p:spPr>
          <a:xfrm>
            <a:off x="1554480" y="4846320"/>
            <a:ext cx="8869680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</a:ln>
        </p:spPr>
      </p:sp>
      <p:sp>
        <p:nvSpPr>
          <p:cNvPr id="33" name="obj_5_22"/>
          <p:cNvSpPr/>
          <p:nvPr/>
        </p:nvSpPr>
        <p:spPr>
          <a:xfrm>
            <a:off x="1554480" y="4343400"/>
            <a:ext cx="0" cy="50292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headEnd type="triangle"/>
          </a:ln>
        </p:spPr>
      </p:sp>
      <p:sp>
        <p:nvSpPr>
          <p:cNvPr id="34" name="obj_5_23"/>
          <p:cNvSpPr txBox="1"/>
          <p:nvPr/>
        </p:nvSpPr>
        <p:spPr>
          <a:xfrm>
            <a:off x="329184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text + rich card + explainability trace</a:t>
            </a:r>
            <a:endParaRPr lang="en-US" sz="1400" dirty="0"/>
          </a:p>
        </p:txBody>
      </p:sp>
      <p:sp>
        <p:nvSpPr>
          <p:cNvPr id="35" name="obj_5_24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server (Node runtime) · JWT-guarded API · zero third-party AI calls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 advTm="7500">
        <p159:morph option="byObject"/>
      </p:transition>
    </mc:Choice>
    <mc:Fallback>
      <p:transition spd="slow" advTm="7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4" grpId="0" animBg="1"/>
      <p:bldP spid="15" grpId="0" animBg="1"/>
      <p:bldP spid="19" grpId="0" animBg="1"/>
      <p:bldP spid="20" grpId="0" animBg="1"/>
      <p:bldP spid="24" grpId="0" animBg="1"/>
      <p:bldP spid="25" grpId="0" animBg="1"/>
      <p:bldP spid="29" grpId="0" animBg="1"/>
      <p:bldP spid="30" grpId="0" animBg="1"/>
      <p:bldP spid="34" grpId="0" animBg="1"/>
      <p:bldP spid="35" grpId="0" animBg="1"/>
    </p:bldLst>
  </p:timing>
</p:sld>
</file>

<file path=ppt/slides/slide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11064240" y="448513"/>
            <a:ext cx="640080" cy="748894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1184255" y="583314"/>
            <a:ext cx="400050" cy="47929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1288268" y="770537"/>
            <a:ext cx="192024" cy="23215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NLU, built from scratch</a:t>
            </a:r>
            <a:endParaRPr lang="en-US" sz="3400" dirty="0"/>
          </a:p>
        </p:txBody>
      </p:sp>
      <p:sp>
        <p:nvSpPr>
          <p:cNvPr id="6" name="!!nlu"/>
          <p:cNvSpPr/>
          <p:nvPr/>
        </p:nvSpPr>
        <p:spPr>
          <a:xfrm>
            <a:off x="640080" y="1554480"/>
            <a:ext cx="6675120" cy="4709160"/>
          </a:xfrm>
          <a:prstGeom prst="roundRect">
            <a:avLst>
              <a:gd name="adj" fmla="val 3495"/>
            </a:avLst>
          </a:prstGeom>
          <a:solidFill>
            <a:srgbClr val="0C4555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7" name="obj_6_0"/>
          <p:cNvSpPr/>
          <p:nvPr/>
        </p:nvSpPr>
        <p:spPr>
          <a:xfrm>
            <a:off x="960120" y="187452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obj_6_1"/>
          <p:cNvSpPr txBox="1"/>
          <p:nvPr/>
        </p:nvSpPr>
        <p:spPr>
          <a:xfrm>
            <a:off x="96012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obj_6_2"/>
          <p:cNvSpPr txBox="1"/>
          <p:nvPr/>
        </p:nvSpPr>
        <p:spPr>
          <a:xfrm>
            <a:off x="160020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</a:t>
            </a:r>
            <a:endParaRPr lang="en-US" sz="1800" dirty="0"/>
          </a:p>
        </p:txBody>
      </p:sp>
      <p:sp>
        <p:nvSpPr>
          <p:cNvPr id="10" name="obj_6_3"/>
          <p:cNvSpPr txBox="1"/>
          <p:nvPr/>
        </p:nvSpPr>
        <p:spPr>
          <a:xfrm>
            <a:off x="160020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contractions, slang (“bal”, “txn”), ₹ / rs / inr, numbers → &lt;num&gt;</a:t>
            </a:r>
            <a:endParaRPr lang="en-US" sz="1400" dirty="0"/>
          </a:p>
        </p:txBody>
      </p:sp>
      <p:sp>
        <p:nvSpPr>
          <p:cNvPr id="11" name="obj_6_4"/>
          <p:cNvSpPr/>
          <p:nvPr/>
        </p:nvSpPr>
        <p:spPr>
          <a:xfrm>
            <a:off x="960120" y="274320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obj_6_5"/>
          <p:cNvSpPr txBox="1"/>
          <p:nvPr/>
        </p:nvSpPr>
        <p:spPr>
          <a:xfrm>
            <a:off x="96012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obj_6_6"/>
          <p:cNvSpPr txBox="1"/>
          <p:nvPr/>
        </p:nvSpPr>
        <p:spPr>
          <a:xfrm>
            <a:off x="1600200" y="2697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Featurise</a:t>
            </a:r>
            <a:endParaRPr lang="en-US" sz="1800" dirty="0"/>
          </a:p>
        </p:txBody>
      </p:sp>
      <p:sp>
        <p:nvSpPr>
          <p:cNvPr id="14" name="obj_6_7"/>
          <p:cNvSpPr txBox="1"/>
          <p:nvPr/>
        </p:nvSpPr>
        <p:spPr>
          <a:xfrm>
            <a:off x="1600200" y="3063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stemmed word uni- + bigrams and character 3–5-grams (typo-proof)</a:t>
            </a:r>
            <a:endParaRPr lang="en-US" sz="1400" dirty="0"/>
          </a:p>
        </p:txBody>
      </p:sp>
      <p:sp>
        <p:nvSpPr>
          <p:cNvPr id="15" name="obj_6_8"/>
          <p:cNvSpPr/>
          <p:nvPr/>
        </p:nvSpPr>
        <p:spPr>
          <a:xfrm>
            <a:off x="960120" y="361188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obj_6_9"/>
          <p:cNvSpPr txBox="1"/>
          <p:nvPr/>
        </p:nvSpPr>
        <p:spPr>
          <a:xfrm>
            <a:off x="96012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obj_6_10"/>
          <p:cNvSpPr txBox="1"/>
          <p:nvPr/>
        </p:nvSpPr>
        <p:spPr>
          <a:xfrm>
            <a:off x="1600200" y="3566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800" dirty="0"/>
          </a:p>
        </p:txBody>
      </p:sp>
      <p:sp>
        <p:nvSpPr>
          <p:cNvPr id="18" name="obj_6_11"/>
          <p:cNvSpPr txBox="1"/>
          <p:nvPr/>
        </p:nvSpPr>
        <p:spPr>
          <a:xfrm>
            <a:off x="160020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with sublinear term frequency, L2-normalised</a:t>
            </a:r>
            <a:endParaRPr lang="en-US" sz="1400" dirty="0"/>
          </a:p>
        </p:txBody>
      </p:sp>
      <p:sp>
        <p:nvSpPr>
          <p:cNvPr id="19" name="obj_6_12"/>
          <p:cNvSpPr/>
          <p:nvPr/>
        </p:nvSpPr>
        <p:spPr>
          <a:xfrm>
            <a:off x="960120" y="448056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obj_6_13"/>
          <p:cNvSpPr txBox="1"/>
          <p:nvPr/>
        </p:nvSpPr>
        <p:spPr>
          <a:xfrm>
            <a:off x="960120" y="4480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obj_6_14"/>
          <p:cNvSpPr txBox="1"/>
          <p:nvPr/>
        </p:nvSpPr>
        <p:spPr>
          <a:xfrm>
            <a:off x="1600200" y="4434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800" dirty="0"/>
          </a:p>
        </p:txBody>
      </p:sp>
      <p:sp>
        <p:nvSpPr>
          <p:cNvPr id="22" name="obj_6_15"/>
          <p:cNvSpPr txBox="1"/>
          <p:nvPr/>
        </p:nvSpPr>
        <p:spPr>
          <a:xfrm>
            <a:off x="1600200" y="4800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regression, AdaGrad + L2, int8-quantised weights</a:t>
            </a:r>
            <a:endParaRPr lang="en-US" sz="1400" dirty="0"/>
          </a:p>
        </p:txBody>
      </p:sp>
      <p:sp>
        <p:nvSpPr>
          <p:cNvPr id="23" name="obj_6_16"/>
          <p:cNvSpPr/>
          <p:nvPr/>
        </p:nvSpPr>
        <p:spPr>
          <a:xfrm>
            <a:off x="960120" y="5349240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obj_6_17"/>
          <p:cNvSpPr txBox="1"/>
          <p:nvPr/>
        </p:nvSpPr>
        <p:spPr>
          <a:xfrm>
            <a:off x="960120" y="5349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obj_6_18"/>
          <p:cNvSpPr txBox="1"/>
          <p:nvPr/>
        </p:nvSpPr>
        <p:spPr>
          <a:xfrm>
            <a:off x="1600200" y="5303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800" dirty="0"/>
          </a:p>
        </p:txBody>
      </p:sp>
      <p:sp>
        <p:nvSpPr>
          <p:cNvPr id="26" name="obj_6_19"/>
          <p:cNvSpPr txBox="1"/>
          <p:nvPr/>
        </p:nvSpPr>
        <p:spPr>
          <a:xfrm>
            <a:off x="160020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gazetteers + Levenshtein: amount, payee, date, city, tenure…</a:t>
            </a:r>
            <a:endParaRPr lang="en-US" sz="1400" dirty="0"/>
          </a:p>
        </p:txBody>
      </p:sp>
      <p:sp>
        <p:nvSpPr>
          <p:cNvPr id="27" name="obj_6_20"/>
          <p:cNvSpPr txBox="1"/>
          <p:nvPr/>
        </p:nvSpPr>
        <p:spPr>
          <a:xfrm>
            <a:off x="7863840" y="1600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000" dirty="0"/>
          </a:p>
        </p:txBody>
      </p:sp>
      <p:sp>
        <p:nvSpPr>
          <p:cNvPr id="28" name="obj_6_21"/>
          <p:cNvSpPr txBox="1"/>
          <p:nvPr/>
        </p:nvSpPr>
        <p:spPr>
          <a:xfrm>
            <a:off x="786384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across 8 banking domains</a:t>
            </a:r>
            <a:endParaRPr lang="en-US" sz="1500" dirty="0"/>
          </a:p>
        </p:txBody>
      </p:sp>
      <p:sp>
        <p:nvSpPr>
          <p:cNvPr id="29" name="obj_6_22"/>
          <p:cNvSpPr txBox="1"/>
          <p:nvPr/>
        </p:nvSpPr>
        <p:spPr>
          <a:xfrm>
            <a:off x="7863840" y="32004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2,874</a:t>
            </a:r>
            <a:endParaRPr lang="en-US" sz="5000" dirty="0"/>
          </a:p>
        </p:txBody>
      </p:sp>
      <p:sp>
        <p:nvSpPr>
          <p:cNvPr id="30" name="obj_6_23"/>
          <p:cNvSpPr txBox="1"/>
          <p:nvPr/>
        </p:nvSpPr>
        <p:spPr>
          <a:xfrm>
            <a:off x="7863840" y="4069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utterances from a 364-template grammar</a:t>
            </a:r>
            <a:endParaRPr lang="en-US" sz="1500" dirty="0"/>
          </a:p>
        </p:txBody>
      </p:sp>
      <p:sp>
        <p:nvSpPr>
          <p:cNvPr id="31" name="obj_6_24"/>
          <p:cNvSpPr txBox="1"/>
          <p:nvPr/>
        </p:nvSpPr>
        <p:spPr>
          <a:xfrm>
            <a:off x="7863840" y="4800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5,932</a:t>
            </a:r>
            <a:endParaRPr lang="en-US" sz="5000" dirty="0"/>
          </a:p>
        </p:txBody>
      </p:sp>
      <p:sp>
        <p:nvSpPr>
          <p:cNvPr id="32" name="obj_6_25"/>
          <p:cNvSpPr txBox="1"/>
          <p:nvPr/>
        </p:nvSpPr>
        <p:spPr>
          <a:xfrm>
            <a:off x="7863840" y="5669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≈330 KB model file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 advTm="7500">
        <p159:morph option="byObject"/>
      </p:transition>
    </mc:Choice>
    <mc:Fallback>
      <p:transition spd="slow" advTm="7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11109960" y="5805526"/>
            <a:ext cx="548640" cy="641909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1212830" y="5921069"/>
            <a:ext cx="342900" cy="41082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1301984" y="6081546"/>
            <a:ext cx="164592" cy="1989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phrases it never saw</a:t>
            </a:r>
            <a:endParaRPr lang="en-US" sz="3400" dirty="0"/>
          </a:p>
        </p:txBody>
      </p:sp>
      <p:sp>
        <p:nvSpPr>
          <p:cNvPr id="6" name="obj_7_0"/>
          <p:cNvSpPr txBox="1"/>
          <p:nvPr/>
        </p:nvSpPr>
        <p:spPr>
          <a:xfrm>
            <a:off x="640080" y="16002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94.3%</a:t>
            </a:r>
            <a:endParaRPr lang="en-US" sz="8800" dirty="0"/>
          </a:p>
        </p:txBody>
      </p:sp>
      <p:sp>
        <p:nvSpPr>
          <p:cNvPr id="7" name="obj_7_1"/>
          <p:cNvSpPr txBox="1"/>
          <p:nvPr/>
        </p:nvSpPr>
        <p:spPr>
          <a:xfrm>
            <a:off x="640080" y="30175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accuracy on 88 hand-written test phrases (typos, Indian English, unseen wording) · macro-F1 94.7%</a:t>
            </a:r>
            <a:endParaRPr lang="en-US" sz="1600" dirty="0"/>
          </a:p>
        </p:txBody>
      </p:sp>
      <p:sp>
        <p:nvSpPr>
          <p:cNvPr id="8" name="obj_7_2"/>
          <p:cNvSpPr txBox="1"/>
          <p:nvPr/>
        </p:nvSpPr>
        <p:spPr>
          <a:xfrm>
            <a:off x="64008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misread</a:t>
            </a:r>
            <a:endParaRPr lang="en-US" sz="1600" dirty="0"/>
          </a:p>
        </p:txBody>
      </p:sp>
      <p:sp>
        <p:nvSpPr>
          <p:cNvPr id="9" name="obj_7_3"/>
          <p:cNvSpPr txBox="1"/>
          <p:nvPr/>
        </p:nvSpPr>
        <p:spPr>
          <a:xfrm>
            <a:off x="640080" y="4754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“when is my emi due” → card_info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“who is virat kohli” → bot_capabilities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“give me a mini statment” → out_of_scope</a:t>
            </a:r>
            <a:endParaRPr lang="en-US" sz="1300" dirty="0"/>
          </a:p>
        </p:txBody>
      </p:sp>
      <p:graphicFrame>
        <p:nvGraphicFramePr>
          <p:cNvPr id="10" name="obj_7_4" descr=""/>
          <p:cNvGraphicFramePr/>
          <p:nvPr/>
        </p:nvGraphicFramePr>
        <p:xfrm>
          <a:off x="5577840" y="150876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 advTm="8000">
        <p159:morph option="byObject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Graphic spid="10" grpId="0">
        <p:bldAsOne/>
      </p:bldGraphic>
    </p:bldLst>
  </p:timing>
</p:sld>
</file>

<file path=ppt/slides/slide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11064240" y="448513"/>
            <a:ext cx="640080" cy="748894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1184255" y="583314"/>
            <a:ext cx="400050" cy="47929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1288268" y="770537"/>
            <a:ext cx="192024" cy="23215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Remembering what's missing</a:t>
            </a:r>
            <a:endParaRPr lang="en-US" sz="3400" dirty="0"/>
          </a:p>
        </p:txBody>
      </p:sp>
      <p:sp>
        <p:nvSpPr>
          <p:cNvPr id="6" name="obj_8_0"/>
          <p:cNvSpPr txBox="1"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Frame-based dialogue: fill slots across turns, then apply bank rules.</a:t>
            </a:r>
            <a:endParaRPr lang="en-US" sz="1600" dirty="0"/>
          </a:p>
        </p:txBody>
      </p:sp>
      <p:sp>
        <p:nvSpPr>
          <p:cNvPr id="7" name="!!dm"/>
          <p:cNvSpPr/>
          <p:nvPr/>
        </p:nvSpPr>
        <p:spPr>
          <a:xfrm>
            <a:off x="640080" y="2057400"/>
            <a:ext cx="1554480" cy="731520"/>
          </a:xfrm>
          <a:prstGeom prst="roundRect">
            <a:avLst>
              <a:gd name="adj" fmla="val 2250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8" name="obj_8_1"/>
          <p:cNvSpPr txBox="1"/>
          <p:nvPr/>
        </p:nvSpPr>
        <p:spPr>
          <a:xfrm>
            <a:off x="64008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Payee?</a:t>
            </a:r>
            <a:endParaRPr lang="en-US" sz="1600" dirty="0"/>
          </a:p>
        </p:txBody>
      </p:sp>
      <p:sp>
        <p:nvSpPr>
          <p:cNvPr id="9" name="obj_8_2"/>
          <p:cNvSpPr/>
          <p:nvPr/>
        </p:nvSpPr>
        <p:spPr>
          <a:xfrm>
            <a:off x="2212848" y="2423160"/>
            <a:ext cx="283464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10" name="obj_8_3"/>
          <p:cNvSpPr/>
          <p:nvPr/>
        </p:nvSpPr>
        <p:spPr>
          <a:xfrm>
            <a:off x="2514600" y="2057400"/>
            <a:ext cx="1554480" cy="731520"/>
          </a:xfrm>
          <a:prstGeom prst="roundRect">
            <a:avLst>
              <a:gd name="adj" fmla="val 2250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11" name="obj_8_4"/>
          <p:cNvSpPr txBox="1"/>
          <p:nvPr/>
        </p:nvSpPr>
        <p:spPr>
          <a:xfrm>
            <a:off x="251460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Amount?</a:t>
            </a:r>
            <a:endParaRPr lang="en-US" sz="1600" dirty="0"/>
          </a:p>
        </p:txBody>
      </p:sp>
      <p:sp>
        <p:nvSpPr>
          <p:cNvPr id="12" name="obj_8_5"/>
          <p:cNvSpPr/>
          <p:nvPr/>
        </p:nvSpPr>
        <p:spPr>
          <a:xfrm>
            <a:off x="4087368" y="2423160"/>
            <a:ext cx="283464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13" name="obj_8_6"/>
          <p:cNvSpPr/>
          <p:nvPr/>
        </p:nvSpPr>
        <p:spPr>
          <a:xfrm>
            <a:off x="4389120" y="2057400"/>
            <a:ext cx="1554480" cy="731520"/>
          </a:xfrm>
          <a:prstGeom prst="roundRect">
            <a:avLst>
              <a:gd name="adj" fmla="val 22500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14" name="obj_8_7"/>
          <p:cNvSpPr txBox="1"/>
          <p:nvPr/>
        </p:nvSpPr>
        <p:spPr>
          <a:xfrm>
            <a:off x="438912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✓</a:t>
            </a:r>
            <a:endParaRPr lang="en-US" sz="1600" dirty="0"/>
          </a:p>
        </p:txBody>
      </p:sp>
      <p:sp>
        <p:nvSpPr>
          <p:cNvPr id="15" name="obj_8_8"/>
          <p:cNvSpPr/>
          <p:nvPr/>
        </p:nvSpPr>
        <p:spPr>
          <a:xfrm>
            <a:off x="5961888" y="2423160"/>
            <a:ext cx="283464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16" name="obj_8_9"/>
          <p:cNvSpPr/>
          <p:nvPr/>
        </p:nvSpPr>
        <p:spPr>
          <a:xfrm>
            <a:off x="6263640" y="2057400"/>
            <a:ext cx="1554480" cy="731520"/>
          </a:xfrm>
          <a:prstGeom prst="roundRect">
            <a:avLst>
              <a:gd name="adj" fmla="val 22500"/>
            </a:avLst>
          </a:prstGeom>
          <a:solidFill>
            <a:srgbClr val="0C4555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17" name="obj_8_10"/>
          <p:cNvSpPr txBox="1"/>
          <p:nvPr/>
        </p:nvSpPr>
        <p:spPr>
          <a:xfrm>
            <a:off x="626364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600" dirty="0"/>
          </a:p>
        </p:txBody>
      </p:sp>
      <p:sp>
        <p:nvSpPr>
          <p:cNvPr id="18" name="obj_8_11"/>
          <p:cNvSpPr/>
          <p:nvPr/>
        </p:nvSpPr>
        <p:spPr>
          <a:xfrm>
            <a:off x="7836408" y="2423160"/>
            <a:ext cx="283464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19" name="obj_8_12"/>
          <p:cNvSpPr/>
          <p:nvPr/>
        </p:nvSpPr>
        <p:spPr>
          <a:xfrm>
            <a:off x="8138160" y="2057400"/>
            <a:ext cx="1554480" cy="731520"/>
          </a:xfrm>
          <a:prstGeom prst="roundRect">
            <a:avLst>
              <a:gd name="adj" fmla="val 22500"/>
            </a:avLst>
          </a:prstGeom>
          <a:solidFill>
            <a:srgbClr val="0C4555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obj_8_13"/>
          <p:cNvSpPr txBox="1"/>
          <p:nvPr/>
        </p:nvSpPr>
        <p:spPr>
          <a:xfrm>
            <a:off x="813816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&gt; ₹25k</a:t>
            </a:r>
            <a:endParaRPr lang="en-US" sz="1600" dirty="0"/>
          </a:p>
        </p:txBody>
      </p:sp>
      <p:sp>
        <p:nvSpPr>
          <p:cNvPr id="21" name="obj_8_14"/>
          <p:cNvSpPr/>
          <p:nvPr/>
        </p:nvSpPr>
        <p:spPr>
          <a:xfrm>
            <a:off x="9710928" y="2423160"/>
            <a:ext cx="283464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22" name="obj_8_15"/>
          <p:cNvSpPr/>
          <p:nvPr/>
        </p:nvSpPr>
        <p:spPr>
          <a:xfrm>
            <a:off x="10012680" y="2057400"/>
            <a:ext cx="1554480" cy="731520"/>
          </a:xfrm>
          <a:prstGeom prst="roundRect">
            <a:avLst>
              <a:gd name="adj" fmla="val 22500"/>
            </a:avLst>
          </a:prstGeom>
          <a:solidFill>
            <a:srgbClr val="23915F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23" name="obj_8_16"/>
          <p:cNvSpPr txBox="1"/>
          <p:nvPr/>
        </p:nvSpPr>
        <p:spPr>
          <a:xfrm>
            <a:off x="1001268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600" dirty="0"/>
          </a:p>
        </p:txBody>
      </p:sp>
      <p:sp>
        <p:nvSpPr>
          <p:cNvPr id="24" name="obj_8_17"/>
          <p:cNvSpPr txBox="1"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· deny · 3 wrong OTPs · digression → nothing is sent</a:t>
            </a:r>
            <a:endParaRPr lang="en-US" sz="1400" dirty="0"/>
          </a:p>
        </p:txBody>
      </p:sp>
      <p:sp>
        <p:nvSpPr>
          <p:cNvPr id="25" name="obj_8_18"/>
          <p:cNvSpPr txBox="1"/>
          <p:nvPr/>
        </p:nvSpPr>
        <p:spPr>
          <a:xfrm>
            <a:off x="3127248" y="3611880"/>
            <a:ext cx="2542032" cy="530352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money to rohan</a:t>
            </a:r>
            <a:endParaRPr lang="en-US" sz="1400" dirty="0"/>
          </a:p>
        </p:txBody>
      </p:sp>
      <p:sp>
        <p:nvSpPr>
          <p:cNvPr id="26" name="obj_8_19"/>
          <p:cNvSpPr txBox="1"/>
          <p:nvPr/>
        </p:nvSpPr>
        <p:spPr>
          <a:xfrm>
            <a:off x="640080" y="4270248"/>
            <a:ext cx="4754880" cy="530352"/>
          </a:xfrm>
          <a:prstGeom prst="roundRect">
            <a:avLst>
              <a:gd name="adj" fmla="val 34483"/>
            </a:avLst>
          </a:prstGeom>
          <a:solidFill>
            <a:srgbClr val="0F5D6C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it, Rohan. What amount?</a:t>
            </a:r>
            <a:endParaRPr lang="en-US" sz="1400" dirty="0"/>
          </a:p>
        </p:txBody>
      </p:sp>
      <p:sp>
        <p:nvSpPr>
          <p:cNvPr id="27" name="obj_8_20"/>
          <p:cNvSpPr txBox="1"/>
          <p:nvPr/>
        </p:nvSpPr>
        <p:spPr>
          <a:xfrm>
            <a:off x="4480560" y="4928616"/>
            <a:ext cx="1188720" cy="530352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1400" dirty="0"/>
          </a:p>
        </p:txBody>
      </p:sp>
      <p:sp>
        <p:nvSpPr>
          <p:cNvPr id="28" name="obj_8_21"/>
          <p:cNvSpPr txBox="1"/>
          <p:nvPr/>
        </p:nvSpPr>
        <p:spPr>
          <a:xfrm>
            <a:off x="640080" y="5586984"/>
            <a:ext cx="4754880" cy="530352"/>
          </a:xfrm>
          <a:prstGeom prst="roundRect">
            <a:avLst>
              <a:gd name="adj" fmla="val 34483"/>
            </a:avLst>
          </a:prstGeom>
          <a:solidFill>
            <a:srgbClr val="0F5D6C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send ₹3,000 to Rohan Mehta. Shall I go ahead?</a:t>
            </a:r>
            <a:endParaRPr lang="en-US" sz="1400" dirty="0"/>
          </a:p>
        </p:txBody>
      </p:sp>
      <p:sp>
        <p:nvSpPr>
          <p:cNvPr id="29" name="obj_8_22"/>
          <p:cNvSpPr/>
          <p:nvPr/>
        </p:nvSpPr>
        <p:spPr>
          <a:xfrm>
            <a:off x="6400800" y="3611880"/>
            <a:ext cx="5166360" cy="2606040"/>
          </a:xfrm>
          <a:prstGeom prst="roundRect">
            <a:avLst>
              <a:gd name="adj" fmla="val 6316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30" name="obj_8_23"/>
          <p:cNvSpPr txBox="1"/>
          <p:nvPr/>
        </p:nvSpPr>
        <p:spPr>
          <a:xfrm>
            <a:off x="66751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1700" dirty="0"/>
          </a:p>
        </p:txBody>
      </p:sp>
      <p:sp>
        <p:nvSpPr>
          <p:cNvPr id="31" name="obj_8_24"/>
          <p:cNvSpPr txBox="1"/>
          <p:nvPr/>
        </p:nvSpPr>
        <p:spPr>
          <a:xfrm>
            <a:off x="6675120" y="42062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filling —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“3000” fills the awaited amount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carry-over —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about this month?” reuses the last intent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—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payee, balance, ₹2 L daily limit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returns a decision trace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 advTm="8500">
        <p159:morph option="byObject"/>
      </p:transition>
    </mc:Choice>
    <mc:Fallback>
      <p:transition spd="slow" advTm="8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</p:bldLst>
  </p:timing>
</p:sld>
</file>

<file path=ppt/slides/slide1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7406640" y="494233"/>
            <a:ext cx="640080" cy="748894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7526655" y="629034"/>
            <a:ext cx="400050" cy="47929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7630668" y="816257"/>
            <a:ext cx="192024" cy="23215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results into words</a:t>
            </a:r>
            <a:endParaRPr lang="en-US" sz="3400" dirty="0"/>
          </a:p>
        </p:txBody>
      </p:sp>
      <p:sp>
        <p:nvSpPr>
          <p:cNvPr id="6" name="obj_9_0"/>
          <p:cNvSpPr txBox="1"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act → template choice → surface realisation</a:t>
            </a:r>
            <a:endParaRPr lang="en-US" sz="1600" dirty="0"/>
          </a:p>
        </p:txBody>
      </p:sp>
      <p:sp>
        <p:nvSpPr>
          <p:cNvPr id="7" name="!!nlg"/>
          <p:cNvSpPr/>
          <p:nvPr/>
        </p:nvSpPr>
        <p:spPr>
          <a:xfrm>
            <a:off x="640080" y="2103120"/>
            <a:ext cx="3291840" cy="2377440"/>
          </a:xfrm>
          <a:prstGeom prst="roundRect">
            <a:avLst>
              <a:gd name="adj" fmla="val 6923"/>
            </a:avLst>
          </a:prstGeom>
          <a:solidFill>
            <a:srgbClr val="0C4555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8" name="obj_9_1"/>
          <p:cNvSpPr txBox="1"/>
          <p:nvPr/>
        </p:nvSpPr>
        <p:spPr>
          <a:xfrm>
            <a:off x="9144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act</a:t>
            </a:r>
            <a:endParaRPr lang="en-US" sz="1600" dirty="0"/>
          </a:p>
        </p:txBody>
      </p:sp>
      <p:sp>
        <p:nvSpPr>
          <p:cNvPr id="9" name="obj_9_2"/>
          <p:cNvSpPr txBox="1"/>
          <p:nvPr/>
        </p:nvSpPr>
        <p:spPr>
          <a:xfrm>
            <a:off x="9144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transfer_done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amount: 40000,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payee: "Sunita Sharma",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ref: "NXB504201173",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balance: 322528 }</a:t>
            </a:r>
            <a:endParaRPr lang="en-US" sz="1300" dirty="0"/>
          </a:p>
        </p:txBody>
      </p:sp>
      <p:sp>
        <p:nvSpPr>
          <p:cNvPr id="10" name="obj_9_3"/>
          <p:cNvSpPr/>
          <p:nvPr/>
        </p:nvSpPr>
        <p:spPr>
          <a:xfrm>
            <a:off x="4023360" y="3291840"/>
            <a:ext cx="411480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11" name="obj_9_4"/>
          <p:cNvSpPr/>
          <p:nvPr/>
        </p:nvSpPr>
        <p:spPr>
          <a:xfrm>
            <a:off x="4526280" y="2103120"/>
            <a:ext cx="3291840" cy="2377440"/>
          </a:xfrm>
          <a:prstGeom prst="roundRect">
            <a:avLst>
              <a:gd name="adj" fmla="val 6923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12" name="obj_9_5"/>
          <p:cNvSpPr txBox="1"/>
          <p:nvPr/>
        </p:nvSpPr>
        <p:spPr>
          <a:xfrm>
            <a:off x="48006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(1 of 2)</a:t>
            </a:r>
            <a:endParaRPr lang="en-US" sz="1600" dirty="0"/>
          </a:p>
        </p:txBody>
      </p:sp>
      <p:sp>
        <p:nvSpPr>
          <p:cNvPr id="13" name="obj_9_6"/>
          <p:cNvSpPr txBox="1"/>
          <p:nvPr/>
        </p:nvSpPr>
        <p:spPr>
          <a:xfrm>
            <a:off x="4800600" y="26974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Done! {amount} sent to {payee}. Reference {ref}. Your new balance is {balance}.</a:t>
            </a:r>
            <a:endParaRPr lang="en-US" sz="1300" dirty="0"/>
          </a:p>
        </p:txBody>
      </p:sp>
      <p:sp>
        <p:nvSpPr>
          <p:cNvPr id="14" name="obj_9_7"/>
          <p:cNvSpPr/>
          <p:nvPr/>
        </p:nvSpPr>
        <p:spPr>
          <a:xfrm>
            <a:off x="7909560" y="3291840"/>
            <a:ext cx="411480" cy="0"/>
          </a:xfrm>
          <a:prstGeom prst="line">
            <a:avLst/>
          </a:prstGeom>
          <a:noFill/>
          <a:ln w="22225">
            <a:solidFill>
              <a:srgbClr val="7FCFCF"/>
            </a:solidFill>
            <a:prstDash val="solid"/>
            <a:tailEnd type="triangle"/>
          </a:ln>
        </p:spPr>
      </p:sp>
      <p:sp>
        <p:nvSpPr>
          <p:cNvPr id="15" name="obj_9_8"/>
          <p:cNvSpPr txBox="1"/>
          <p:nvPr/>
        </p:nvSpPr>
        <p:spPr>
          <a:xfrm>
            <a:off x="8412480" y="2240280"/>
            <a:ext cx="3154680" cy="2103120"/>
          </a:xfrm>
          <a:prstGeom prst="roundRect">
            <a:avLst>
              <a:gd name="adj" fmla="val 8696"/>
            </a:avLst>
          </a:prstGeom>
          <a:solidFill>
            <a:srgbClr val="0F5D6C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Done! ₹40,000 sent to Sunita Sharma. Reference NXB504201173. Your new balance is ₹3,22,528.</a:t>
            </a:r>
            <a:endParaRPr lang="en-US" sz="1600" dirty="0"/>
          </a:p>
        </p:txBody>
      </p:sp>
      <p:sp>
        <p:nvSpPr>
          <p:cNvPr id="16" name="obj_9_9"/>
          <p:cNvSpPr txBox="1"/>
          <p:nvPr/>
        </p:nvSpPr>
        <p:spPr>
          <a:xfrm>
            <a:off x="640080" y="4892040"/>
            <a:ext cx="338328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₹3,22,528 · en-IN digits</a:t>
            </a:r>
            <a:endParaRPr lang="en-US" sz="1300" dirty="0"/>
          </a:p>
        </p:txBody>
      </p:sp>
      <p:sp>
        <p:nvSpPr>
          <p:cNvPr id="17" name="obj_9_10"/>
          <p:cNvSpPr txBox="1"/>
          <p:nvPr/>
        </p:nvSpPr>
        <p:spPr>
          <a:xfrm>
            <a:off x="4297680" y="4892040"/>
            <a:ext cx="338328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₹28.7 lakh · spoken scale</a:t>
            </a:r>
            <a:endParaRPr lang="en-US" sz="1300" dirty="0"/>
          </a:p>
        </p:txBody>
      </p:sp>
      <p:sp>
        <p:nvSpPr>
          <p:cNvPr id="18" name="obj_9_11"/>
          <p:cNvSpPr txBox="1"/>
          <p:nvPr/>
        </p:nvSpPr>
        <p:spPr>
          <a:xfrm>
            <a:off x="7955280" y="4892040"/>
            <a:ext cx="338328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6 days” · relative dates</a:t>
            </a:r>
            <a:endParaRPr lang="en-US" sz="1300" dirty="0"/>
          </a:p>
        </p:txBody>
      </p:sp>
      <p:sp>
        <p:nvSpPr>
          <p:cNvPr id="19" name="obj_9_12"/>
          <p:cNvSpPr txBox="1"/>
          <p:nvPr/>
        </p:nvSpPr>
        <p:spPr>
          <a:xfrm>
            <a:off x="640080" y="5440680"/>
            <a:ext cx="338328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hedges below 65% confidence</a:t>
            </a:r>
            <a:endParaRPr lang="en-US" sz="1300" dirty="0"/>
          </a:p>
        </p:txBody>
      </p:sp>
      <p:sp>
        <p:nvSpPr>
          <p:cNvPr id="20" name="obj_9_13"/>
          <p:cNvSpPr txBox="1"/>
          <p:nvPr/>
        </p:nvSpPr>
        <p:spPr>
          <a:xfrm>
            <a:off x="4297680" y="5440680"/>
            <a:ext cx="338328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rich card types</a:t>
            </a:r>
            <a:endParaRPr lang="en-US" sz="1300" dirty="0"/>
          </a:p>
        </p:txBody>
      </p:sp>
      <p:sp>
        <p:nvSpPr>
          <p:cNvPr id="21" name="obj_9_14"/>
          <p:cNvSpPr txBox="1"/>
          <p:nvPr/>
        </p:nvSpPr>
        <p:spPr>
          <a:xfrm>
            <a:off x="7955280" y="5440680"/>
            <a:ext cx="338328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 advTm="8000">
        <p159:morph option="byObject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914400" y="2815438"/>
            <a:ext cx="2377440" cy="2781605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360170" y="3316126"/>
            <a:ext cx="1485900" cy="1780227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746504" y="4011528"/>
            <a:ext cx="713232" cy="86229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to talk to.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about money.</a:t>
            </a:r>
            <a:endParaRPr lang="en-US" sz="3600" dirty="0"/>
          </a:p>
        </p:txBody>
      </p:sp>
      <p:sp>
        <p:nvSpPr>
          <p:cNvPr id="6" name="obj_10_0"/>
          <p:cNvSpPr txBox="1"/>
          <p:nvPr/>
        </p:nvSpPr>
        <p:spPr>
          <a:xfrm>
            <a:off x="640080" y="2148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never acts on a guess. The dialogue manager enforces what a teller would.</a:t>
            </a:r>
            <a:endParaRPr lang="en-US" sz="1600" dirty="0"/>
          </a:p>
        </p:txBody>
      </p:sp>
      <p:sp>
        <p:nvSpPr>
          <p:cNvPr id="7" name="obj_10_1"/>
          <p:cNvSpPr/>
          <p:nvPr/>
        </p:nvSpPr>
        <p:spPr>
          <a:xfrm>
            <a:off x="5486400" y="914400"/>
            <a:ext cx="731520" cy="731520"/>
          </a:xfrm>
          <a:prstGeom prst="ellipse">
            <a:avLst/>
          </a:prstGeom>
          <a:solidFill>
            <a:srgbClr val="0C4555"/>
          </a:solidFill>
          <a:ln/>
        </p:spPr>
      </p:sp>
      <p:pic>
        <p:nvPicPr>
          <p:cNvPr id="8" name="obj_10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1078992"/>
            <a:ext cx="402336" cy="402336"/>
          </a:xfrm>
          <a:prstGeom prst="rect">
            <a:avLst/>
          </a:prstGeom>
        </p:spPr>
      </p:pic>
      <p:sp>
        <p:nvSpPr>
          <p:cNvPr id="9" name="obj_10_3"/>
          <p:cNvSpPr txBox="1"/>
          <p:nvPr/>
        </p:nvSpPr>
        <p:spPr>
          <a:xfrm>
            <a:off x="6446520" y="9326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before every payment</a:t>
            </a:r>
            <a:endParaRPr lang="en-US" sz="1800" dirty="0"/>
          </a:p>
        </p:txBody>
      </p:sp>
      <p:sp>
        <p:nvSpPr>
          <p:cNvPr id="10" name="obj_10_4"/>
          <p:cNvSpPr txBox="1"/>
          <p:nvPr/>
        </p:nvSpPr>
        <p:spPr>
          <a:xfrm>
            <a:off x="6446520" y="1298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exactly what will happen</a:t>
            </a:r>
            <a:endParaRPr lang="en-US" sz="1400" dirty="0"/>
          </a:p>
        </p:txBody>
      </p:sp>
      <p:sp>
        <p:nvSpPr>
          <p:cNvPr id="11" name="obj_10_5"/>
          <p:cNvSpPr/>
          <p:nvPr/>
        </p:nvSpPr>
        <p:spPr>
          <a:xfrm>
            <a:off x="5486400" y="1993392"/>
            <a:ext cx="731520" cy="731520"/>
          </a:xfrm>
          <a:prstGeom prst="ellipse">
            <a:avLst/>
          </a:prstGeom>
          <a:solidFill>
            <a:srgbClr val="0C4555"/>
          </a:solidFill>
          <a:ln/>
        </p:spPr>
      </p:sp>
      <p:pic>
        <p:nvPicPr>
          <p:cNvPr id="12" name="obj_10_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157984"/>
            <a:ext cx="402336" cy="402336"/>
          </a:xfrm>
          <a:prstGeom prst="rect">
            <a:avLst/>
          </a:prstGeom>
        </p:spPr>
      </p:pic>
      <p:sp>
        <p:nvSpPr>
          <p:cNvPr id="13" name="obj_10_7"/>
          <p:cNvSpPr txBox="1"/>
          <p:nvPr/>
        </p:nvSpPr>
        <p:spPr>
          <a:xfrm>
            <a:off x="6446520" y="20116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above ₹25,000</a:t>
            </a:r>
            <a:endParaRPr lang="en-US" sz="1800" dirty="0"/>
          </a:p>
        </p:txBody>
      </p:sp>
      <p:sp>
        <p:nvSpPr>
          <p:cNvPr id="14" name="obj_10_8"/>
          <p:cNvSpPr txBox="1"/>
          <p:nvPr/>
        </p:nvSpPr>
        <p:spPr>
          <a:xfrm>
            <a:off x="644652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wrong tries cancel the transfer</a:t>
            </a:r>
            <a:endParaRPr lang="en-US" sz="1400" dirty="0"/>
          </a:p>
        </p:txBody>
      </p:sp>
      <p:sp>
        <p:nvSpPr>
          <p:cNvPr id="15" name="obj_10_9"/>
          <p:cNvSpPr/>
          <p:nvPr/>
        </p:nvSpPr>
        <p:spPr>
          <a:xfrm>
            <a:off x="5486400" y="3072384"/>
            <a:ext cx="731520" cy="731520"/>
          </a:xfrm>
          <a:prstGeom prst="ellipse">
            <a:avLst/>
          </a:prstGeom>
          <a:solidFill>
            <a:srgbClr val="0C4555"/>
          </a:solidFill>
          <a:ln/>
        </p:spPr>
      </p:sp>
      <p:pic>
        <p:nvPicPr>
          <p:cNvPr id="16" name="obj_10_1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3236976"/>
            <a:ext cx="402336" cy="402336"/>
          </a:xfrm>
          <a:prstGeom prst="rect">
            <a:avLst/>
          </a:prstGeom>
        </p:spPr>
      </p:pic>
      <p:sp>
        <p:nvSpPr>
          <p:cNvPr id="17" name="obj_10_11"/>
          <p:cNvSpPr txBox="1"/>
          <p:nvPr/>
        </p:nvSpPr>
        <p:spPr>
          <a:xfrm>
            <a:off x="6446520" y="30906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payees only</a:t>
            </a:r>
            <a:endParaRPr lang="en-US" sz="1800" dirty="0"/>
          </a:p>
        </p:txBody>
      </p:sp>
      <p:sp>
        <p:nvSpPr>
          <p:cNvPr id="18" name="obj_10_12"/>
          <p:cNvSpPr txBox="1"/>
          <p:nvPr/>
        </p:nvSpPr>
        <p:spPr>
          <a:xfrm>
            <a:off x="6446520" y="34564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 common social-engineering route</a:t>
            </a:r>
            <a:endParaRPr lang="en-US" sz="1400" dirty="0"/>
          </a:p>
        </p:txBody>
      </p:sp>
      <p:sp>
        <p:nvSpPr>
          <p:cNvPr id="19" name="obj_10_13"/>
          <p:cNvSpPr/>
          <p:nvPr/>
        </p:nvSpPr>
        <p:spPr>
          <a:xfrm>
            <a:off x="5486400" y="4151376"/>
            <a:ext cx="731520" cy="731520"/>
          </a:xfrm>
          <a:prstGeom prst="ellipse">
            <a:avLst/>
          </a:prstGeom>
          <a:solidFill>
            <a:srgbClr val="0C4555"/>
          </a:solidFill>
          <a:ln/>
        </p:spPr>
      </p:sp>
      <p:pic>
        <p:nvPicPr>
          <p:cNvPr id="20" name="obj_10_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4315968"/>
            <a:ext cx="402336" cy="402336"/>
          </a:xfrm>
          <a:prstGeom prst="rect">
            <a:avLst/>
          </a:prstGeom>
        </p:spPr>
      </p:pic>
      <p:sp>
        <p:nvSpPr>
          <p:cNvPr id="21" name="obj_10_15"/>
          <p:cNvSpPr txBox="1"/>
          <p:nvPr/>
        </p:nvSpPr>
        <p:spPr>
          <a:xfrm>
            <a:off x="6446520" y="41696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short sessions</a:t>
            </a:r>
            <a:endParaRPr lang="en-US" sz="1800" dirty="0"/>
          </a:p>
        </p:txBody>
      </p:sp>
      <p:sp>
        <p:nvSpPr>
          <p:cNvPr id="22" name="obj_10_16"/>
          <p:cNvSpPr txBox="1"/>
          <p:nvPr/>
        </p:nvSpPr>
        <p:spPr>
          <a:xfrm>
            <a:off x="6446520" y="45354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lakh a day · 30-minute sessions</a:t>
            </a:r>
            <a:endParaRPr lang="en-US" sz="1400" dirty="0"/>
          </a:p>
        </p:txBody>
      </p:sp>
      <p:sp>
        <p:nvSpPr>
          <p:cNvPr id="23" name="obj_10_17"/>
          <p:cNvSpPr/>
          <p:nvPr/>
        </p:nvSpPr>
        <p:spPr>
          <a:xfrm>
            <a:off x="5486400" y="5230368"/>
            <a:ext cx="731520" cy="731520"/>
          </a:xfrm>
          <a:prstGeom prst="ellipse">
            <a:avLst/>
          </a:prstGeom>
          <a:solidFill>
            <a:srgbClr val="0C4555"/>
          </a:solidFill>
          <a:ln/>
        </p:spPr>
      </p:sp>
      <p:pic>
        <p:nvPicPr>
          <p:cNvPr id="24" name="obj_10_1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2" y="5394960"/>
            <a:ext cx="402336" cy="402336"/>
          </a:xfrm>
          <a:prstGeom prst="rect">
            <a:avLst/>
          </a:prstGeom>
        </p:spPr>
      </p:pic>
      <p:sp>
        <p:nvSpPr>
          <p:cNvPr id="25" name="obj_10_19"/>
          <p:cNvSpPr txBox="1"/>
          <p:nvPr/>
        </p:nvSpPr>
        <p:spPr>
          <a:xfrm>
            <a:off x="6446520" y="5248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sign-in</a:t>
            </a:r>
            <a:endParaRPr lang="en-US" sz="1800" dirty="0"/>
          </a:p>
        </p:txBody>
      </p:sp>
      <p:sp>
        <p:nvSpPr>
          <p:cNvPr id="26" name="obj_10_20"/>
          <p:cNvSpPr txBox="1"/>
          <p:nvPr/>
        </p:nvSpPr>
        <p:spPr>
          <a:xfrm>
            <a:off x="6446520" y="56144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hashes · httpOnly JWT · 5-try lock-out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 advTm="7500">
        <p159:morph option="byObject"/>
      </p:transition>
    </mc:Choice>
    <mc:Fallback>
      <p:transition spd="slow" advTm="7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5" grpId="0" animBg="1"/>
      <p:bldP spid="26" grpId="0" animBg="1"/>
    </p:bldLst>
  </p:timing>
</p:sld>
</file>

<file path=ppt/slides/slide1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11064240" y="448513"/>
            <a:ext cx="640080" cy="748894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1184255" y="583314"/>
            <a:ext cx="400050" cy="47929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1288268" y="770537"/>
            <a:ext cx="192024" cy="23215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3400" dirty="0"/>
          </a:p>
        </p:txBody>
      </p:sp>
      <p:sp>
        <p:nvSpPr>
          <p:cNvPr id="6" name="obj_11_0"/>
          <p:cNvSpPr txBox="1"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chat with rich cards · “Under the hood” inspector</a:t>
            </a:r>
            <a:endParaRPr lang="en-US" sz="1600" dirty="0"/>
          </a:p>
        </p:txBody>
      </p:sp>
      <p:sp>
        <p:nvSpPr>
          <p:cNvPr id="7" name="obj_11_1"/>
          <p:cNvSpPr/>
          <p:nvPr/>
        </p:nvSpPr>
        <p:spPr>
          <a:xfrm>
            <a:off x="640080" y="1920240"/>
            <a:ext cx="3017520" cy="4434840"/>
          </a:xfrm>
          <a:prstGeom prst="roundRect">
            <a:avLst>
              <a:gd name="adj" fmla="val 5455"/>
            </a:avLst>
          </a:prstGeom>
          <a:solidFill>
            <a:srgbClr val="0C4555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8" name="obj_11_2"/>
          <p:cNvSpPr txBox="1"/>
          <p:nvPr/>
        </p:nvSpPr>
        <p:spPr>
          <a:xfrm>
            <a:off x="8686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balance</a:t>
            </a:r>
            <a:endParaRPr lang="en-US" sz="1200" dirty="0"/>
          </a:p>
        </p:txBody>
      </p:sp>
      <p:sp>
        <p:nvSpPr>
          <p:cNvPr id="9" name="obj_11_3"/>
          <p:cNvSpPr txBox="1"/>
          <p:nvPr/>
        </p:nvSpPr>
        <p:spPr>
          <a:xfrm>
            <a:off x="86868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₹3,65,528</a:t>
            </a:r>
            <a:endParaRPr lang="en-US" sz="2800" dirty="0"/>
          </a:p>
        </p:txBody>
      </p:sp>
      <p:sp>
        <p:nvSpPr>
          <p:cNvPr id="10" name="obj_11_4"/>
          <p:cNvSpPr txBox="1"/>
          <p:nvPr/>
        </p:nvSpPr>
        <p:spPr>
          <a:xfrm>
            <a:off x="868680" y="31546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6222B">
              <a:alpha val="0"/>
            </a:srgbClr>
          </a:solidFill>
          <a:ln w="12700">
            <a:solidFill>
              <a:srgbClr val="CFE3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money</a:t>
            </a:r>
            <a:endParaRPr lang="en-US" sz="1100" dirty="0"/>
          </a:p>
        </p:txBody>
      </p:sp>
      <p:sp>
        <p:nvSpPr>
          <p:cNvPr id="11" name="obj_11_5"/>
          <p:cNvSpPr txBox="1"/>
          <p:nvPr/>
        </p:nvSpPr>
        <p:spPr>
          <a:xfrm>
            <a:off x="2194560" y="31546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6222B">
              <a:alpha val="0"/>
            </a:srgbClr>
          </a:solidFill>
          <a:ln w="12700">
            <a:solidFill>
              <a:srgbClr val="CFE3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 bill</a:t>
            </a:r>
            <a:endParaRPr lang="en-US" sz="1100" dirty="0"/>
          </a:p>
        </p:txBody>
      </p:sp>
      <p:sp>
        <p:nvSpPr>
          <p:cNvPr id="12" name="obj_11_6"/>
          <p:cNvSpPr txBox="1"/>
          <p:nvPr/>
        </p:nvSpPr>
        <p:spPr>
          <a:xfrm>
            <a:off x="868680" y="36576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6222B">
              <a:alpha val="0"/>
            </a:srgbClr>
          </a:solidFill>
          <a:ln w="12700">
            <a:solidFill>
              <a:srgbClr val="CFE3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1100" dirty="0"/>
          </a:p>
        </p:txBody>
      </p:sp>
      <p:sp>
        <p:nvSpPr>
          <p:cNvPr id="13" name="obj_11_7"/>
          <p:cNvSpPr txBox="1"/>
          <p:nvPr/>
        </p:nvSpPr>
        <p:spPr>
          <a:xfrm>
            <a:off x="2194560" y="36576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6222B">
              <a:alpha val="0"/>
            </a:srgbClr>
          </a:solidFill>
          <a:ln w="12700">
            <a:solidFill>
              <a:srgbClr val="CFE3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100" dirty="0"/>
          </a:p>
        </p:txBody>
      </p:sp>
      <p:sp>
        <p:nvSpPr>
          <p:cNvPr id="14" name="obj_11_8"/>
          <p:cNvSpPr txBox="1"/>
          <p:nvPr/>
        </p:nvSpPr>
        <p:spPr>
          <a:xfrm>
            <a:off x="868680" y="41605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6222B">
              <a:alpha val="0"/>
            </a:srgbClr>
          </a:solidFill>
          <a:ln w="12700">
            <a:solidFill>
              <a:srgbClr val="CFE3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100" dirty="0"/>
          </a:p>
        </p:txBody>
      </p:sp>
      <p:sp>
        <p:nvSpPr>
          <p:cNvPr id="15" name="obj_11_9"/>
          <p:cNvSpPr txBox="1"/>
          <p:nvPr/>
        </p:nvSpPr>
        <p:spPr>
          <a:xfrm>
            <a:off x="2194560" y="41605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6222B">
              <a:alpha val="0"/>
            </a:srgbClr>
          </a:solidFill>
          <a:ln w="12700">
            <a:solidFill>
              <a:srgbClr val="CFE3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ATM</a:t>
            </a:r>
            <a:endParaRPr lang="en-US" sz="1100" dirty="0"/>
          </a:p>
        </p:txBody>
      </p:sp>
      <p:sp>
        <p:nvSpPr>
          <p:cNvPr id="16" name="obj_11_10"/>
          <p:cNvSpPr txBox="1"/>
          <p:nvPr/>
        </p:nvSpPr>
        <p:spPr>
          <a:xfrm>
            <a:off x="868680" y="4800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this month</a:t>
            </a:r>
            <a:endParaRPr lang="en-US" sz="1200" dirty="0"/>
          </a:p>
        </p:txBody>
      </p:sp>
      <p:sp>
        <p:nvSpPr>
          <p:cNvPr id="17" name="obj_11_11"/>
          <p:cNvSpPr/>
          <p:nvPr/>
        </p:nvSpPr>
        <p:spPr>
          <a:xfrm>
            <a:off x="868680" y="5166360"/>
            <a:ext cx="2377440" cy="128016"/>
          </a:xfrm>
          <a:prstGeom prst="roundRect">
            <a:avLst>
              <a:gd name="adj" fmla="val 50000"/>
            </a:avLst>
          </a:prstGeom>
          <a:solidFill>
            <a:srgbClr val="16939A"/>
          </a:solidFill>
          <a:ln/>
        </p:spPr>
      </p:sp>
      <p:sp>
        <p:nvSpPr>
          <p:cNvPr id="18" name="obj_11_12"/>
          <p:cNvSpPr/>
          <p:nvPr/>
        </p:nvSpPr>
        <p:spPr>
          <a:xfrm>
            <a:off x="868680" y="5440680"/>
            <a:ext cx="1737360" cy="12801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9" name="obj_11_13"/>
          <p:cNvSpPr/>
          <p:nvPr/>
        </p:nvSpPr>
        <p:spPr>
          <a:xfrm>
            <a:off x="868680" y="5715000"/>
            <a:ext cx="1188720" cy="128016"/>
          </a:xfrm>
          <a:prstGeom prst="roundRect">
            <a:avLst>
              <a:gd name="adj" fmla="val 50000"/>
            </a:avLst>
          </a:prstGeom>
          <a:solidFill>
            <a:srgbClr val="7FCFCF"/>
          </a:solidFill>
          <a:ln/>
        </p:spPr>
      </p:sp>
      <p:sp>
        <p:nvSpPr>
          <p:cNvPr id="20" name="obj_11_14"/>
          <p:cNvSpPr/>
          <p:nvPr/>
        </p:nvSpPr>
        <p:spPr>
          <a:xfrm>
            <a:off x="868680" y="5989320"/>
            <a:ext cx="731520" cy="128016"/>
          </a:xfrm>
          <a:prstGeom prst="roundRect">
            <a:avLst>
              <a:gd name="adj" fmla="val 50000"/>
            </a:avLst>
          </a:prstGeom>
          <a:solidFill>
            <a:srgbClr val="0F5D6C"/>
          </a:solidFill>
          <a:ln/>
        </p:spPr>
      </p:sp>
      <p:sp>
        <p:nvSpPr>
          <p:cNvPr id="21" name="obj_11_15"/>
          <p:cNvSpPr/>
          <p:nvPr/>
        </p:nvSpPr>
        <p:spPr>
          <a:xfrm>
            <a:off x="3840480" y="1920240"/>
            <a:ext cx="466344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obj_11_16"/>
          <p:cNvSpPr txBox="1"/>
          <p:nvPr/>
        </p:nvSpPr>
        <p:spPr>
          <a:xfrm>
            <a:off x="6035040" y="2194560"/>
            <a:ext cx="2240280" cy="457200"/>
          </a:xfrm>
          <a:prstGeom prst="roundRect">
            <a:avLst>
              <a:gd name="adj" fmla="val 30000"/>
            </a:avLst>
          </a:prstGeom>
          <a:solidFill>
            <a:srgbClr val="0C4555"/>
          </a:solidFill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40k to mom</a:t>
            </a:r>
            <a:endParaRPr lang="en-US" sz="1300" dirty="0"/>
          </a:p>
        </p:txBody>
      </p:sp>
      <p:sp>
        <p:nvSpPr>
          <p:cNvPr id="23" name="obj_11_17"/>
          <p:cNvSpPr txBox="1"/>
          <p:nvPr/>
        </p:nvSpPr>
        <p:spPr>
          <a:xfrm>
            <a:off x="4069080" y="2834640"/>
            <a:ext cx="3566160" cy="685800"/>
          </a:xfrm>
          <a:prstGeom prst="roundRect">
            <a:avLst>
              <a:gd name="adj" fmla="val 20000"/>
            </a:avLst>
          </a:prstGeom>
          <a:solidFill>
            <a:srgbClr val="EEF3F3"/>
          </a:solidFill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send ₹40,000 to Sunita Sharma. Shall I go ahead?</a:t>
            </a:r>
            <a:endParaRPr lang="en-US" sz="1300" dirty="0"/>
          </a:p>
        </p:txBody>
      </p:sp>
      <p:sp>
        <p:nvSpPr>
          <p:cNvPr id="24" name="obj_11_18"/>
          <p:cNvSpPr/>
          <p:nvPr/>
        </p:nvSpPr>
        <p:spPr>
          <a:xfrm>
            <a:off x="4069080" y="36576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BE4E5"/>
            </a:solidFill>
            <a:prstDash val="solid"/>
          </a:ln>
        </p:spPr>
      </p:sp>
      <p:sp>
        <p:nvSpPr>
          <p:cNvPr id="25" name="obj_11_19"/>
          <p:cNvSpPr txBox="1"/>
          <p:nvPr/>
        </p:nvSpPr>
        <p:spPr>
          <a:xfrm>
            <a:off x="42519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Sunita Sharma · SBI XXXX0452</a:t>
            </a:r>
            <a:endParaRPr lang="en-US" sz="1100" dirty="0"/>
          </a:p>
        </p:txBody>
      </p:sp>
      <p:sp>
        <p:nvSpPr>
          <p:cNvPr id="26" name="obj_11_20"/>
          <p:cNvSpPr txBox="1"/>
          <p:nvPr/>
        </p:nvSpPr>
        <p:spPr>
          <a:xfrm>
            <a:off x="425196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₹40,000</a:t>
            </a:r>
            <a:endParaRPr lang="en-US" sz="2600" dirty="0"/>
          </a:p>
        </p:txBody>
      </p:sp>
      <p:sp>
        <p:nvSpPr>
          <p:cNvPr id="27" name="obj_11_21"/>
          <p:cNvSpPr txBox="1"/>
          <p:nvPr/>
        </p:nvSpPr>
        <p:spPr>
          <a:xfrm>
            <a:off x="4251960" y="466344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0C45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₹40,000</a:t>
            </a:r>
            <a:endParaRPr lang="en-US" sz="1200" dirty="0"/>
          </a:p>
        </p:txBody>
      </p:sp>
      <p:sp>
        <p:nvSpPr>
          <p:cNvPr id="28" name="obj_11_22"/>
          <p:cNvSpPr txBox="1"/>
          <p:nvPr/>
        </p:nvSpPr>
        <p:spPr>
          <a:xfrm>
            <a:off x="4069080" y="5715000"/>
            <a:ext cx="1280160" cy="329184"/>
          </a:xfrm>
          <a:prstGeom prst="roundRect">
            <a:avLst>
              <a:gd name="adj" fmla="val 55556"/>
            </a:avLst>
          </a:prstGeom>
          <a:solidFill>
            <a:srgbClr val="06222B">
              <a:alpha val="0"/>
            </a:srgbClr>
          </a:solidFill>
          <a:ln w="12700">
            <a:solidFill>
              <a:srgbClr val="DBE4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00" dirty="0"/>
          </a:p>
        </p:txBody>
      </p:sp>
      <p:sp>
        <p:nvSpPr>
          <p:cNvPr id="29" name="obj_11_23"/>
          <p:cNvSpPr txBox="1"/>
          <p:nvPr/>
        </p:nvSpPr>
        <p:spPr>
          <a:xfrm>
            <a:off x="5440680" y="5715000"/>
            <a:ext cx="1280160" cy="329184"/>
          </a:xfrm>
          <a:prstGeom prst="roundRect">
            <a:avLst>
              <a:gd name="adj" fmla="val 55556"/>
            </a:avLst>
          </a:prstGeom>
          <a:solidFill>
            <a:srgbClr val="06222B">
              <a:alpha val="0"/>
            </a:srgbClr>
          </a:solidFill>
          <a:ln w="12700">
            <a:solidFill>
              <a:srgbClr val="DBE4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this month</a:t>
            </a:r>
            <a:endParaRPr lang="en-US" sz="1000" dirty="0"/>
          </a:p>
        </p:txBody>
      </p:sp>
      <p:sp>
        <p:nvSpPr>
          <p:cNvPr id="30" name="obj_11_24"/>
          <p:cNvSpPr txBox="1"/>
          <p:nvPr/>
        </p:nvSpPr>
        <p:spPr>
          <a:xfrm>
            <a:off x="6812280" y="5715000"/>
            <a:ext cx="1280160" cy="329184"/>
          </a:xfrm>
          <a:prstGeom prst="roundRect">
            <a:avLst>
              <a:gd name="adj" fmla="val 55556"/>
            </a:avLst>
          </a:prstGeom>
          <a:solidFill>
            <a:srgbClr val="06222B">
              <a:alpha val="0"/>
            </a:srgbClr>
          </a:solidFill>
          <a:ln w="12700">
            <a:solidFill>
              <a:srgbClr val="DBE4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my cards</a:t>
            </a:r>
            <a:endParaRPr lang="en-US" sz="1000" dirty="0"/>
          </a:p>
        </p:txBody>
      </p:sp>
      <p:sp>
        <p:nvSpPr>
          <p:cNvPr id="31" name="obj_11_25"/>
          <p:cNvSpPr/>
          <p:nvPr/>
        </p:nvSpPr>
        <p:spPr>
          <a:xfrm>
            <a:off x="8686800" y="1920240"/>
            <a:ext cx="2880360" cy="4434840"/>
          </a:xfrm>
          <a:prstGeom prst="roundRect">
            <a:avLst>
              <a:gd name="adj" fmla="val 5714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32" name="obj_11_26"/>
          <p:cNvSpPr txBox="1"/>
          <p:nvPr/>
        </p:nvSpPr>
        <p:spPr>
          <a:xfrm>
            <a:off x="89154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33" name="obj_11_27"/>
          <p:cNvSpPr txBox="1"/>
          <p:nvPr/>
        </p:nvSpPr>
        <p:spPr>
          <a:xfrm>
            <a:off x="8915400" y="2606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transfer_money</a:t>
            </a:r>
            <a:endParaRPr lang="en-US" sz="1100" dirty="0"/>
          </a:p>
        </p:txBody>
      </p:sp>
      <p:sp>
        <p:nvSpPr>
          <p:cNvPr id="34" name="obj_11_28"/>
          <p:cNvSpPr/>
          <p:nvPr/>
        </p:nvSpPr>
        <p:spPr>
          <a:xfrm>
            <a:off x="8915400" y="2880360"/>
            <a:ext cx="2331720" cy="914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5" name="obj_11_29"/>
          <p:cNvSpPr txBox="1"/>
          <p:nvPr/>
        </p:nvSpPr>
        <p:spPr>
          <a:xfrm>
            <a:off x="8915400" y="3154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E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pay_bill</a:t>
            </a:r>
            <a:endParaRPr lang="en-US" sz="1100" dirty="0"/>
          </a:p>
        </p:txBody>
      </p:sp>
      <p:sp>
        <p:nvSpPr>
          <p:cNvPr id="36" name="obj_11_30"/>
          <p:cNvSpPr/>
          <p:nvPr/>
        </p:nvSpPr>
        <p:spPr>
          <a:xfrm>
            <a:off x="8915400" y="3429000"/>
            <a:ext cx="109728" cy="91440"/>
          </a:xfrm>
          <a:prstGeom prst="roundRect">
            <a:avLst>
              <a:gd name="adj" fmla="val 50000"/>
            </a:avLst>
          </a:prstGeom>
          <a:solidFill>
            <a:srgbClr val="0C4555"/>
          </a:solidFill>
          <a:ln/>
        </p:spPr>
      </p:sp>
      <p:sp>
        <p:nvSpPr>
          <p:cNvPr id="37" name="obj_11_31"/>
          <p:cNvSpPr txBox="1"/>
          <p:nvPr/>
        </p:nvSpPr>
        <p:spPr>
          <a:xfrm>
            <a:off x="8915400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E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mini_statement</a:t>
            </a:r>
            <a:endParaRPr lang="en-US" sz="1100" dirty="0"/>
          </a:p>
        </p:txBody>
      </p:sp>
      <p:sp>
        <p:nvSpPr>
          <p:cNvPr id="38" name="obj_11_32"/>
          <p:cNvSpPr/>
          <p:nvPr/>
        </p:nvSpPr>
        <p:spPr>
          <a:xfrm>
            <a:off x="8915400" y="3977640"/>
            <a:ext cx="54864" cy="91440"/>
          </a:xfrm>
          <a:prstGeom prst="roundRect">
            <a:avLst>
              <a:gd name="adj" fmla="val 83333"/>
            </a:avLst>
          </a:prstGeom>
          <a:solidFill>
            <a:srgbClr val="0C4555"/>
          </a:solidFill>
          <a:ln/>
        </p:spPr>
      </p:sp>
      <p:sp>
        <p:nvSpPr>
          <p:cNvPr id="39" name="obj_11_33"/>
          <p:cNvSpPr txBox="1"/>
          <p:nvPr/>
        </p:nvSpPr>
        <p:spPr>
          <a:xfrm>
            <a:off x="8915400" y="43434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C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= 40000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payee = Sunita Sharma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awaiting confirmation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OTP required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 advTm="8000">
        <p159:morph option="byObject"/>
      </p:transition>
    </mc:Choice>
    <mc:Fallback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7" grpId="0" animBg="1"/>
      <p:bldP spid="39" grpId="0" animBg="1"/>
    </p:bldLst>
  </p:timing>
</p:sld>
</file>

<file path=ppt/slides/slide1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8092440" y="494233"/>
            <a:ext cx="640080" cy="748894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8212455" y="629034"/>
            <a:ext cx="400050" cy="47929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8316468" y="816257"/>
            <a:ext cx="192024" cy="23215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 that shows its work</a:t>
            </a:r>
            <a:endParaRPr lang="en-US" sz="3400" dirty="0"/>
          </a:p>
        </p:txBody>
      </p:sp>
      <p:sp>
        <p:nvSpPr>
          <p:cNvPr id="6" name="obj_12_0"/>
          <p:cNvSpPr/>
          <p:nvPr/>
        </p:nvSpPr>
        <p:spPr>
          <a:xfrm>
            <a:off x="640080" y="1737360"/>
            <a:ext cx="5349240" cy="1783080"/>
          </a:xfrm>
          <a:prstGeom prst="roundRect">
            <a:avLst>
              <a:gd name="adj" fmla="val 9231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7" name="obj_12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57400"/>
            <a:ext cx="502920" cy="502920"/>
          </a:xfrm>
          <a:prstGeom prst="rect">
            <a:avLst/>
          </a:prstGeom>
        </p:spPr>
      </p:pic>
      <p:sp>
        <p:nvSpPr>
          <p:cNvPr id="8" name="obj_12_2"/>
          <p:cNvSpPr txBox="1"/>
          <p:nvPr/>
        </p:nvSpPr>
        <p:spPr>
          <a:xfrm>
            <a:off x="169164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parse hero</a:t>
            </a:r>
            <a:endParaRPr lang="en-US" sz="2000" dirty="0"/>
          </a:p>
        </p:txBody>
      </p:sp>
      <p:sp>
        <p:nvSpPr>
          <p:cNvPr id="9" name="obj_12_3"/>
          <p:cNvSpPr txBox="1"/>
          <p:nvPr/>
        </p:nvSpPr>
        <p:spPr>
          <a:xfrm>
            <a:off x="1691640" y="2560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 types a request, highlights its entities, fills an intent bar and writes Nova's reply.</a:t>
            </a:r>
            <a:endParaRPr lang="en-US" sz="1500" dirty="0"/>
          </a:p>
        </p:txBody>
      </p:sp>
      <p:sp>
        <p:nvSpPr>
          <p:cNvPr id="10" name="obj_12_4"/>
          <p:cNvSpPr/>
          <p:nvPr/>
        </p:nvSpPr>
        <p:spPr>
          <a:xfrm>
            <a:off x="6217920" y="1737360"/>
            <a:ext cx="5349240" cy="1783080"/>
          </a:xfrm>
          <a:prstGeom prst="roundRect">
            <a:avLst>
              <a:gd name="adj" fmla="val 9231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11" name="obj_12_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057400"/>
            <a:ext cx="502920" cy="502920"/>
          </a:xfrm>
          <a:prstGeom prst="rect">
            <a:avLst/>
          </a:prstGeom>
        </p:spPr>
      </p:pic>
      <p:sp>
        <p:nvSpPr>
          <p:cNvPr id="12" name="obj_12_6"/>
          <p:cNvSpPr txBox="1"/>
          <p:nvPr/>
        </p:nvSpPr>
        <p:spPr>
          <a:xfrm>
            <a:off x="726948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Scroll-told architecture</a:t>
            </a:r>
            <a:endParaRPr lang="en-US" sz="2000" dirty="0"/>
          </a:p>
        </p:txBody>
      </p:sp>
      <p:sp>
        <p:nvSpPr>
          <p:cNvPr id="13" name="obj_12_7"/>
          <p:cNvSpPr txBox="1"/>
          <p:nvPr/>
        </p:nvSpPr>
        <p:spPr>
          <a:xfrm>
            <a:off x="7269480" y="2560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travels Understand → Decide → Act → Respond as you scroll.</a:t>
            </a:r>
            <a:endParaRPr lang="en-US" sz="1500" dirty="0"/>
          </a:p>
        </p:txBody>
      </p:sp>
      <p:sp>
        <p:nvSpPr>
          <p:cNvPr id="14" name="obj_12_8"/>
          <p:cNvSpPr/>
          <p:nvPr/>
        </p:nvSpPr>
        <p:spPr>
          <a:xfrm>
            <a:off x="640080" y="3840480"/>
            <a:ext cx="5349240" cy="1783080"/>
          </a:xfrm>
          <a:prstGeom prst="roundRect">
            <a:avLst>
              <a:gd name="adj" fmla="val 9231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15" name="obj_12_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60520"/>
            <a:ext cx="502920" cy="502920"/>
          </a:xfrm>
          <a:prstGeom prst="rect">
            <a:avLst/>
          </a:prstGeom>
        </p:spPr>
      </p:pic>
      <p:sp>
        <p:nvSpPr>
          <p:cNvPr id="16" name="obj_12_10"/>
          <p:cNvSpPr txBox="1"/>
          <p:nvPr/>
        </p:nvSpPr>
        <p:spPr>
          <a:xfrm>
            <a:off x="169164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Crafted sign-in</a:t>
            </a:r>
            <a:endParaRPr lang="en-US" sz="2000" dirty="0"/>
          </a:p>
        </p:txBody>
      </p:sp>
      <p:sp>
        <p:nvSpPr>
          <p:cNvPr id="17" name="obj_12_11"/>
          <p:cNvSpPr txBox="1"/>
          <p:nvPr/>
        </p:nvSpPr>
        <p:spPr>
          <a:xfrm>
            <a:off x="1691640" y="4663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tilt card, inline errors, lock-out, and a smooth hand-off to the dashboard.</a:t>
            </a:r>
            <a:endParaRPr lang="en-US" sz="1500" dirty="0"/>
          </a:p>
        </p:txBody>
      </p:sp>
      <p:sp>
        <p:nvSpPr>
          <p:cNvPr id="18" name="obj_12_12"/>
          <p:cNvSpPr/>
          <p:nvPr/>
        </p:nvSpPr>
        <p:spPr>
          <a:xfrm>
            <a:off x="6217920" y="3840480"/>
            <a:ext cx="5349240" cy="1783080"/>
          </a:xfrm>
          <a:prstGeom prst="roundRect">
            <a:avLst>
              <a:gd name="adj" fmla="val 9231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pic>
        <p:nvPicPr>
          <p:cNvPr id="19" name="obj_12_1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160520"/>
            <a:ext cx="502920" cy="502920"/>
          </a:xfrm>
          <a:prstGeom prst="rect">
            <a:avLst/>
          </a:prstGeom>
        </p:spPr>
      </p:pic>
      <p:sp>
        <p:nvSpPr>
          <p:cNvPr id="20" name="obj_12_14"/>
          <p:cNvSpPr txBox="1"/>
          <p:nvPr/>
        </p:nvSpPr>
        <p:spPr>
          <a:xfrm>
            <a:off x="726948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in, voice out</a:t>
            </a:r>
            <a:endParaRPr lang="en-US" sz="2000" dirty="0"/>
          </a:p>
        </p:txBody>
      </p:sp>
      <p:sp>
        <p:nvSpPr>
          <p:cNvPr id="21" name="obj_12_15"/>
          <p:cNvSpPr txBox="1"/>
          <p:nvPr/>
        </p:nvSpPr>
        <p:spPr>
          <a:xfrm>
            <a:off x="7269480" y="4663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Nova in Indian English; replies can be read aloud.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 advTm="7500">
        <p159:morph option="byObject"/>
      </p:transition>
    </mc:Choice>
    <mc:Fallback>
      <p:transition spd="slow" advTm="7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1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11064240" y="448513"/>
            <a:ext cx="640080" cy="748894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1184255" y="583314"/>
            <a:ext cx="400050" cy="47929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1288268" y="770537"/>
            <a:ext cx="192024" cy="23215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and what we learned</a:t>
            </a:r>
            <a:endParaRPr lang="en-US" sz="3400" dirty="0"/>
          </a:p>
        </p:txBody>
      </p:sp>
      <p:sp>
        <p:nvSpPr>
          <p:cNvPr id="6" name="obj_13_0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800" dirty="0"/>
          </a:p>
        </p:txBody>
      </p:sp>
      <p:sp>
        <p:nvSpPr>
          <p:cNvPr id="7" name="obj_13_1"/>
          <p:cNvSpPr txBox="1"/>
          <p:nvPr/>
        </p:nvSpPr>
        <p:spPr>
          <a:xfrm>
            <a:off x="640080" y="2057400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300" dirty="0"/>
          </a:p>
        </p:txBody>
      </p:sp>
      <p:sp>
        <p:nvSpPr>
          <p:cNvPr id="8" name="obj_13_2"/>
          <p:cNvSpPr txBox="1"/>
          <p:nvPr/>
        </p:nvSpPr>
        <p:spPr>
          <a:xfrm>
            <a:off x="3108960" y="2057400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9" name="obj_13_3"/>
          <p:cNvSpPr txBox="1"/>
          <p:nvPr/>
        </p:nvSpPr>
        <p:spPr>
          <a:xfrm>
            <a:off x="640080" y="262432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0" name="obj_13_4"/>
          <p:cNvSpPr txBox="1"/>
          <p:nvPr/>
        </p:nvSpPr>
        <p:spPr>
          <a:xfrm>
            <a:off x="3108960" y="262432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300" dirty="0"/>
          </a:p>
        </p:txBody>
      </p:sp>
      <p:sp>
        <p:nvSpPr>
          <p:cNvPr id="11" name="obj_13_5"/>
          <p:cNvSpPr txBox="1"/>
          <p:nvPr/>
        </p:nvSpPr>
        <p:spPr>
          <a:xfrm>
            <a:off x="640080" y="3191256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300" dirty="0"/>
          </a:p>
        </p:txBody>
      </p:sp>
      <p:sp>
        <p:nvSpPr>
          <p:cNvPr id="12" name="obj_13_6"/>
          <p:cNvSpPr txBox="1"/>
          <p:nvPr/>
        </p:nvSpPr>
        <p:spPr>
          <a:xfrm>
            <a:off x="3108960" y="3191256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(JWT)</a:t>
            </a:r>
            <a:endParaRPr lang="en-US" sz="1300" dirty="0"/>
          </a:p>
        </p:txBody>
      </p:sp>
      <p:sp>
        <p:nvSpPr>
          <p:cNvPr id="13" name="obj_13_7"/>
          <p:cNvSpPr txBox="1"/>
          <p:nvPr/>
        </p:nvSpPr>
        <p:spPr>
          <a:xfrm>
            <a:off x="640080" y="3758184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crypto</a:t>
            </a:r>
            <a:endParaRPr lang="en-US" sz="1300" dirty="0"/>
          </a:p>
        </p:txBody>
      </p:sp>
      <p:sp>
        <p:nvSpPr>
          <p:cNvPr id="14" name="obj_13_8"/>
          <p:cNvSpPr txBox="1"/>
          <p:nvPr/>
        </p:nvSpPr>
        <p:spPr>
          <a:xfrm>
            <a:off x="3108960" y="3758184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300" dirty="0"/>
          </a:p>
        </p:txBody>
      </p:sp>
      <p:sp>
        <p:nvSpPr>
          <p:cNvPr id="15" name="obj_13_9"/>
          <p:cNvSpPr txBox="1"/>
          <p:nvPr/>
        </p:nvSpPr>
        <p:spPr>
          <a:xfrm>
            <a:off x="640080" y="4325112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7FCF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NLU</a:t>
            </a:r>
            <a:endParaRPr lang="en-US" sz="1300" dirty="0"/>
          </a:p>
        </p:txBody>
      </p:sp>
      <p:sp>
        <p:nvSpPr>
          <p:cNvPr id="16" name="obj_13_10"/>
          <p:cNvSpPr txBox="1"/>
          <p:nvPr/>
        </p:nvSpPr>
        <p:spPr>
          <a:xfrm>
            <a:off x="3108960" y="4325112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6222B">
              <a:alpha val="0"/>
            </a:srgbClr>
          </a:solidFill>
          <a:ln w="12700"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docs</a:t>
            </a:r>
            <a:endParaRPr lang="en-US" sz="1300" dirty="0"/>
          </a:p>
        </p:txBody>
      </p:sp>
      <p:sp>
        <p:nvSpPr>
          <p:cNvPr id="17" name="obj_13_11"/>
          <p:cNvSpPr/>
          <p:nvPr/>
        </p:nvSpPr>
        <p:spPr>
          <a:xfrm>
            <a:off x="5669280" y="1554480"/>
            <a:ext cx="5897880" cy="3840480"/>
          </a:xfrm>
          <a:prstGeom prst="roundRect">
            <a:avLst>
              <a:gd name="adj" fmla="val 4286"/>
            </a:avLst>
          </a:prstGeom>
          <a:solidFill>
            <a:srgbClr val="0A3140"/>
          </a:solidFill>
          <a:ln w="12700">
            <a:solidFill>
              <a:srgbClr val="0C4555"/>
            </a:solidFill>
            <a:prstDash val="solid"/>
          </a:ln>
        </p:spPr>
      </p:sp>
      <p:sp>
        <p:nvSpPr>
          <p:cNvPr id="18" name="obj_13_12"/>
          <p:cNvSpPr txBox="1"/>
          <p:nvPr/>
        </p:nvSpPr>
        <p:spPr>
          <a:xfrm>
            <a:off x="598932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</a:t>
            </a:r>
            <a:endParaRPr lang="en-US" sz="1800" dirty="0"/>
          </a:p>
        </p:txBody>
      </p:sp>
      <p:sp>
        <p:nvSpPr>
          <p:cNvPr id="19" name="obj_13_13"/>
          <p:cNvSpPr txBox="1"/>
          <p:nvPr/>
        </p:nvSpPr>
        <p:spPr>
          <a:xfrm>
            <a:off x="5989320" y="22860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needs data the model never saw.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Template-generated test sets hit 100% and prove nothing.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design is where safety lives.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Confirmation, OTP and payee rules matter more than a better classifier.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n-grams are a cheap typo fix.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“trasnfer”, “balnce” and “swigy” still land.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builds trust.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intent scores and trace made debugging and demos easier.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 advTm="7500">
        <p159:morph option="byObject"/>
      </p:transition>
    </mc:Choice>
    <mc:Fallback>
      <p:transition spd="slow" advTm="7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1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11109960" y="5805526"/>
            <a:ext cx="548640" cy="641909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11212830" y="5921069"/>
            <a:ext cx="342900" cy="410822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11301984" y="6081546"/>
            <a:ext cx="164592" cy="1989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64008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</a:t>
            </a:r>
            <a:endParaRPr lang="en-US" sz="3400" dirty="0"/>
          </a:p>
        </p:txBody>
      </p:sp>
      <p:sp>
        <p:nvSpPr>
          <p:cNvPr id="6" name="obj_14_0"/>
          <p:cNvSpPr txBox="1"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interfaces, production-grade parts behind them.</a:t>
            </a:r>
            <a:endParaRPr lang="en-US" sz="1600" dirty="0"/>
          </a:p>
        </p:txBody>
      </p:sp>
      <p:sp>
        <p:nvSpPr>
          <p:cNvPr id="7" name="obj_14_1"/>
          <p:cNvSpPr/>
          <p:nvPr/>
        </p:nvSpPr>
        <p:spPr>
          <a:xfrm>
            <a:off x="914400" y="2697480"/>
            <a:ext cx="10332720" cy="0"/>
          </a:xfrm>
          <a:prstGeom prst="line">
            <a:avLst/>
          </a:prstGeom>
          <a:noFill/>
          <a:ln w="38100">
            <a:solidFill>
              <a:srgbClr val="0C4555"/>
            </a:solidFill>
            <a:prstDash val="solid"/>
          </a:ln>
        </p:spPr>
      </p:sp>
      <p:sp>
        <p:nvSpPr>
          <p:cNvPr id="8" name="obj_14_2"/>
          <p:cNvSpPr/>
          <p:nvPr/>
        </p:nvSpPr>
        <p:spPr>
          <a:xfrm>
            <a:off x="896112" y="24688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obj_14_3"/>
          <p:cNvSpPr txBox="1"/>
          <p:nvPr/>
        </p:nvSpPr>
        <p:spPr>
          <a:xfrm>
            <a:off x="8961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obj_14_4"/>
          <p:cNvSpPr txBox="1"/>
          <p:nvPr/>
        </p:nvSpPr>
        <p:spPr>
          <a:xfrm>
            <a:off x="9144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</a:t>
            </a:r>
            <a:endParaRPr lang="en-US" sz="1800" dirty="0"/>
          </a:p>
        </p:txBody>
      </p:sp>
      <p:sp>
        <p:nvSpPr>
          <p:cNvPr id="11" name="obj_14_5"/>
          <p:cNvSpPr txBox="1"/>
          <p:nvPr/>
        </p:nvSpPr>
        <p:spPr>
          <a:xfrm>
            <a:off x="914400" y="37033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ledger, Redis sessions, horizontal scaling</a:t>
            </a:r>
            <a:endParaRPr lang="en-US" sz="1500" dirty="0"/>
          </a:p>
        </p:txBody>
      </p:sp>
      <p:sp>
        <p:nvSpPr>
          <p:cNvPr id="12" name="obj_14_6"/>
          <p:cNvSpPr/>
          <p:nvPr/>
        </p:nvSpPr>
        <p:spPr>
          <a:xfrm>
            <a:off x="3639312" y="2468880"/>
            <a:ext cx="457200" cy="457200"/>
          </a:xfrm>
          <a:prstGeom prst="ellipse">
            <a:avLst/>
          </a:prstGeom>
          <a:solidFill>
            <a:srgbClr val="16939A"/>
          </a:solidFill>
          <a:ln/>
        </p:spPr>
      </p:sp>
      <p:sp>
        <p:nvSpPr>
          <p:cNvPr id="13" name="obj_14_7"/>
          <p:cNvSpPr txBox="1"/>
          <p:nvPr/>
        </p:nvSpPr>
        <p:spPr>
          <a:xfrm>
            <a:off x="36393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obj_14_8"/>
          <p:cNvSpPr txBox="1"/>
          <p:nvPr/>
        </p:nvSpPr>
        <p:spPr>
          <a:xfrm>
            <a:off x="36576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NLU</a:t>
            </a:r>
            <a:endParaRPr lang="en-US" sz="1800" dirty="0"/>
          </a:p>
        </p:txBody>
      </p:sp>
      <p:sp>
        <p:nvSpPr>
          <p:cNvPr id="15" name="obj_14_9"/>
          <p:cNvSpPr txBox="1"/>
          <p:nvPr/>
        </p:nvSpPr>
        <p:spPr>
          <a:xfrm>
            <a:off x="3657600" y="37033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DistilBERT / IndicBERT behind the same parse() API</a:t>
            </a:r>
            <a:endParaRPr lang="en-US" sz="1500" dirty="0"/>
          </a:p>
        </p:txBody>
      </p:sp>
      <p:sp>
        <p:nvSpPr>
          <p:cNvPr id="16" name="obj_14_10"/>
          <p:cNvSpPr/>
          <p:nvPr/>
        </p:nvSpPr>
        <p:spPr>
          <a:xfrm>
            <a:off x="6382512" y="2468880"/>
            <a:ext cx="457200" cy="457200"/>
          </a:xfrm>
          <a:prstGeom prst="ellipse">
            <a:avLst/>
          </a:prstGeom>
          <a:solidFill>
            <a:srgbClr val="16939A"/>
          </a:solidFill>
          <a:ln/>
        </p:spPr>
      </p:sp>
      <p:sp>
        <p:nvSpPr>
          <p:cNvPr id="17" name="obj_14_11"/>
          <p:cNvSpPr txBox="1"/>
          <p:nvPr/>
        </p:nvSpPr>
        <p:spPr>
          <a:xfrm>
            <a:off x="63825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obj_14_12"/>
          <p:cNvSpPr txBox="1"/>
          <p:nvPr/>
        </p:nvSpPr>
        <p:spPr>
          <a:xfrm>
            <a:off x="64008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languages</a:t>
            </a:r>
            <a:endParaRPr lang="en-US" sz="1800" dirty="0"/>
          </a:p>
        </p:txBody>
      </p:sp>
      <p:sp>
        <p:nvSpPr>
          <p:cNvPr id="19" name="obj_14_13"/>
          <p:cNvSpPr txBox="1"/>
          <p:nvPr/>
        </p:nvSpPr>
        <p:spPr>
          <a:xfrm>
            <a:off x="6400800" y="37033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Tamil with transliteration-aware features</a:t>
            </a:r>
            <a:endParaRPr lang="en-US" sz="1500" dirty="0"/>
          </a:p>
        </p:txBody>
      </p:sp>
      <p:sp>
        <p:nvSpPr>
          <p:cNvPr id="20" name="obj_14_14"/>
          <p:cNvSpPr/>
          <p:nvPr/>
        </p:nvSpPr>
        <p:spPr>
          <a:xfrm>
            <a:off x="9125712" y="2468880"/>
            <a:ext cx="457200" cy="457200"/>
          </a:xfrm>
          <a:prstGeom prst="ellipse">
            <a:avLst/>
          </a:prstGeom>
          <a:solidFill>
            <a:srgbClr val="16939A"/>
          </a:solidFill>
          <a:ln/>
        </p:spPr>
      </p:sp>
      <p:sp>
        <p:nvSpPr>
          <p:cNvPr id="21" name="obj_14_15"/>
          <p:cNvSpPr txBox="1"/>
          <p:nvPr/>
        </p:nvSpPr>
        <p:spPr>
          <a:xfrm>
            <a:off x="91257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obj_14_16"/>
          <p:cNvSpPr txBox="1"/>
          <p:nvPr/>
        </p:nvSpPr>
        <p:spPr>
          <a:xfrm>
            <a:off x="91440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OTP + devices</a:t>
            </a:r>
            <a:endParaRPr lang="en-US" sz="1800" dirty="0"/>
          </a:p>
        </p:txBody>
      </p:sp>
      <p:sp>
        <p:nvSpPr>
          <p:cNvPr id="23" name="obj_14_17"/>
          <p:cNvSpPr txBox="1"/>
          <p:nvPr/>
        </p:nvSpPr>
        <p:spPr>
          <a:xfrm>
            <a:off x="9144000" y="37033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gateway, device binding, active learning from logs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400" advTm="7500">
        <p159:morph option="byObject"/>
      </p:transition>
    </mc:Choice>
    <mc:Fallback>
      <p:transition spd="slow" advTm="7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Outer"/>
          <p:cNvSpPr/>
          <p:nvPr/>
        </p:nvSpPr>
        <p:spPr>
          <a:xfrm>
            <a:off x="4907128" y="1123798"/>
            <a:ext cx="2377440" cy="2781605"/>
          </a:xfrm>
          <a:prstGeom prst="ellipse">
            <a:avLst/>
          </a:prstGeom>
          <a:solidFill>
            <a:srgbClr val="0F5D6C"/>
          </a:solidFill>
          <a:ln/>
        </p:spPr>
      </p:sp>
      <p:sp>
        <p:nvSpPr>
          <p:cNvPr id="3" name="!!eyeMid"/>
          <p:cNvSpPr/>
          <p:nvPr/>
        </p:nvSpPr>
        <p:spPr>
          <a:xfrm>
            <a:off x="5352898" y="1624486"/>
            <a:ext cx="1485900" cy="1780227"/>
          </a:xfrm>
          <a:prstGeom prst="ellipse">
            <a:avLst/>
          </a:prstGeom>
          <a:solidFill>
            <a:srgbClr val="0A3140"/>
          </a:solidFill>
          <a:ln/>
        </p:spPr>
      </p:sp>
      <p:sp>
        <p:nvSpPr>
          <p:cNvPr id="4" name="!!eyeCore"/>
          <p:cNvSpPr/>
          <p:nvPr/>
        </p:nvSpPr>
        <p:spPr>
          <a:xfrm>
            <a:off x="5739232" y="2319888"/>
            <a:ext cx="713232" cy="862297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!!title"/>
          <p:cNvSpPr txBox="1"/>
          <p:nvPr/>
        </p:nvSpPr>
        <p:spPr>
          <a:xfrm>
            <a:off x="1371600" y="443484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ask Nova.</a:t>
            </a:r>
            <a:endParaRPr lang="en-US" sz="4800" dirty="0"/>
          </a:p>
        </p:txBody>
      </p:sp>
      <p:sp>
        <p:nvSpPr>
          <p:cNvPr id="6" name="obj_15_0"/>
          <p:cNvSpPr txBox="1"/>
          <p:nvPr/>
        </p:nvSpPr>
        <p:spPr>
          <a:xfrm>
            <a:off x="1371600" y="544068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ctr" indent="0" marL="0">
              <a:buNone/>
            </a:pPr>
            <a:r>
              <a:rPr lang="en-US" sz="1600" u="sng" dirty="0">
                <a:solidFill>
                  <a:srgbClr val="7FCFC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nexabank-gvyr.onrender.com</a:t>
            </a:r>
            <a:pPr algn="ctr" indent="0" marL="0">
              <a:buNone/>
            </a:pPr>
            <a:r>
              <a:rPr lang="en-US" sz="1600" dirty="0">
                <a:solidFill>
                  <a:srgbClr val="8F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aarav@nexabank.demo / Nova@123</a:t>
            </a:r>
            <a:endParaRPr lang="en-US" sz="1600" dirty="0"/>
          </a:p>
        </p:txBody>
      </p:sp>
      <p:sp>
        <p:nvSpPr>
          <p:cNvPr id="7" name="obj_15_1"/>
          <p:cNvSpPr txBox="1"/>
          <p:nvPr/>
        </p:nvSpPr>
        <p:spPr>
          <a:xfrm>
            <a:off x="1371600" y="5897880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Patel   ·   Sanket Aepa   ·   Devraj Soni</a:t>
            </a:r>
            <a:endParaRPr lang="en-US" sz="1400" dirty="0"/>
          </a:p>
        </p:txBody>
      </p:sp>
      <p:sp>
        <p:nvSpPr>
          <p:cNvPr id="8" name="obj_15_2"/>
          <p:cNvSpPr txBox="1"/>
          <p:nvPr/>
        </p:nvSpPr>
        <p:spPr>
          <a:xfrm>
            <a:off x="1371600" y="6263640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NexaBank · Nova — conversational banking showreel</dc:title>
  <dc:subject>PptxGenJS Presentation</dc:subject>
  <dc:creator>PptxGenJS</dc:creator>
  <cp:lastModifiedBy>PptxGenJS</cp:lastModifiedBy>
  <cp:revision>1</cp:revision>
  <dcterms:created xsi:type="dcterms:W3CDTF">2026-09-28T12:48:35Z</dcterms:created>
  <dcterms:modified xsi:type="dcterms:W3CDTF">2026-09-28T12:48:35Z</dcterms:modified>
</cp:coreProperties>
</file>